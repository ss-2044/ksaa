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a564a035-a23b-1231-fc77-45ce18478f2f}">
          <p14:sldIdLst>
            <p14:sldId id="256"/>
            <p14:sldId id="257"/>
            <p14:sldId id="258"/>
          </p14:sldIdLst>
        </p14:section>
        <p14:section name="وش نسوي" id="{8dfe0ea6-b5e2-23de-233a-d120f3a51337}">
          <p14:sldIdLst>
            <p14:sldId id="259"/>
            <p14:sldId id="260"/>
          </p14:sldIdLst>
        </p14:section>
        <p14:section name="شغلنا" id="{76be2275-c30c-fcce-4a38-78980f64298d}">
          <p14:sldIdLst>
            <p14:sldId id="261"/>
            <p14:sldId id="262"/>
            <p14:sldId id="263"/>
          </p14:sldIdLst>
        </p14:section>
        <p14:section name="يلا نبدأ" id="{4cc715a3-52c0-efa9-2c4d-a7ef602d9771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غلاف: الشعار من فيديو «من الفكرة إلى التأثير»، والعنوان هو شعار الوكالة.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المشكلة اللي نحلها: زحمة المحتوى. مأخوذة من فيديو «حرّك علامتك».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نبذة قصيرة. الخلفية من فيديو «رحلة علامتك».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الأعمدة الثلاثة للخدمات. عدّل البنود حسب العروض الفعلية.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 مراحل، تُقرأ من اليمين لليسار.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لقطات من فيديوهات منتجة لـ Neo Capta.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الفكرة بعدة مقاسات ولغتين.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نقاط تميّز.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الختام من فيديو «من الفكرة إلى التأثير».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عبّئ بيانات التواصل الفعلية مكان الأقواس.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BOLD_TITLE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_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ksaa/neo-capta-profile/assets/logo-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199632"/>
            <a:ext cx="731520" cy="53014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SA" alt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ar-SA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D_FULL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ksaa/neo-capta-profile/assets/logo-dark-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199632"/>
            <a:ext cx="731520" cy="53014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852160" y="1417320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NEO CAPTA  —  الملف التعريفي</a:t>
            </a:r>
            <a:endParaRPr lang="ar-SA" sz="1500" dirty="0"/>
          </a:p>
        </p:txBody>
      </p:sp>
      <p:sp>
        <p:nvSpPr>
          <p:cNvPr id="3" name="Cover headline"/>
          <p:cNvSpPr txBox="1"/>
          <p:nvPr/>
        </p:nvSpPr>
        <p:spPr>
          <a:xfrm>
            <a:off x="5852160" y="1920240"/>
            <a:ext cx="57881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ar-SA" altLang="en-US" sz="8000" b="1" dirty="0">
                <a:solidFill>
                  <a:schemeClr val="bg1"/>
                </a:solidFill>
              </a:rPr>
              <a:t>فكرتك.</a:t>
            </a:r>
            <a:endParaRPr lang="ar-SA" sz="80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ar-SA" altLang="en-US" sz="8000" b="1" dirty="0">
                <a:solidFill>
                  <a:schemeClr val="accent2"/>
                </a:solidFill>
              </a:rPr>
              <a:t>تأثيرنا.</a:t>
            </a:r>
            <a:endParaRPr lang="ar-SA" sz="8000" dirty="0"/>
          </a:p>
        </p:txBody>
      </p:sp>
      <p:sp>
        <p:nvSpPr>
          <p:cNvPr id="4" name="Cover subtitle"/>
          <p:cNvSpPr txBox="1"/>
          <p:nvPr/>
        </p:nvSpPr>
        <p:spPr>
          <a:xfrm>
            <a:off x="5852160" y="4617720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chemeClr val="bg2"/>
                </a:solidFill>
              </a:rPr>
              <a:t>وكالة تسويق وإعلان وصناعة محتوى</a:t>
            </a:r>
            <a:endParaRPr lang="ar-SA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blem line 1"/>
          <p:cNvSpPr txBox="1"/>
          <p:nvPr/>
        </p:nvSpPr>
        <p:spPr>
          <a:xfrm>
            <a:off x="548640" y="1234440"/>
            <a:ext cx="11094415" cy="810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400" b="1" dirty="0">
                <a:solidFill>
                  <a:schemeClr val="accent6"/>
                </a:solidFill>
              </a:rPr>
              <a:t>السوق مزدحم.</a:t>
            </a:r>
            <a:endParaRPr lang="ar-SA" sz="4400" dirty="0"/>
          </a:p>
        </p:txBody>
      </p:sp>
      <p:sp>
        <p:nvSpPr>
          <p:cNvPr id="3" name="Problem line 2"/>
          <p:cNvSpPr txBox="1"/>
          <p:nvPr/>
        </p:nvSpPr>
        <p:spPr>
          <a:xfrm>
            <a:off x="548640" y="2273300"/>
            <a:ext cx="1109441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chemeClr val="bg2"/>
                </a:solidFill>
              </a:rPr>
              <a:t>الجميع يتكلم.</a:t>
            </a:r>
            <a:endParaRPr lang="ar-SA" sz="5400" dirty="0"/>
          </a:p>
        </p:txBody>
      </p:sp>
      <p:sp>
        <p:nvSpPr>
          <p:cNvPr id="4" name="Problem line 3"/>
          <p:cNvSpPr txBox="1"/>
          <p:nvPr/>
        </p:nvSpPr>
        <p:spPr>
          <a:xfrm>
            <a:off x="548640" y="3496310"/>
            <a:ext cx="11094415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600" b="1" dirty="0">
                <a:solidFill>
                  <a:schemeClr val="accent2"/>
                </a:solidFill>
              </a:rPr>
              <a:t>وقليلون فقط يُسمَعون.</a:t>
            </a:r>
            <a:endParaRPr lang="ar-SA" sz="6600" dirty="0"/>
          </a:p>
        </p:txBody>
      </p:sp>
      <p:sp>
        <p:nvSpPr>
          <p:cNvPr id="5" name="Problem answer"/>
          <p:cNvSpPr txBox="1"/>
          <p:nvPr/>
        </p:nvSpPr>
        <p:spPr>
          <a:xfrm>
            <a:off x="548640" y="50774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dirty="0">
                <a:solidFill>
                  <a:schemeClr val="bg1"/>
                </a:solidFill>
              </a:rPr>
              <a:t>ودورنا نخلّي علامتك منهم.</a:t>
            </a:r>
            <a:endParaRPr lang="ar-SA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583680" y="777240"/>
            <a:ext cx="5056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chemeClr val="accent2"/>
                </a:solidFill>
              </a:rPr>
              <a:t>من نحن</a:t>
            </a:r>
            <a:endParaRPr lang="ar-SA" sz="1500" dirty="0"/>
          </a:p>
        </p:txBody>
      </p:sp>
      <p:sp>
        <p:nvSpPr>
          <p:cNvPr id="3" name="About headline"/>
          <p:cNvSpPr txBox="1"/>
          <p:nvPr/>
        </p:nvSpPr>
        <p:spPr>
          <a:xfrm>
            <a:off x="6583680" y="1371600"/>
            <a:ext cx="50566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chemeClr val="bg1"/>
                </a:solidFill>
              </a:rPr>
              <a:t>نحوّل الأفكار إلى قصص… والقصص إلى تأثير.</a:t>
            </a:r>
            <a:endParaRPr lang="ar-SA" sz="3600" dirty="0"/>
          </a:p>
        </p:txBody>
      </p:sp>
      <p:sp>
        <p:nvSpPr>
          <p:cNvPr id="4" name="About body"/>
          <p:cNvSpPr txBox="1"/>
          <p:nvPr/>
        </p:nvSpPr>
        <p:spPr>
          <a:xfrm>
            <a:off x="6583680" y="3611880"/>
            <a:ext cx="50566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2"/>
                </a:solidFill>
              </a:rPr>
              <a:t>Neo Capta وكالة تسويق وإعلان وصناعة محتوى. نمسك علامتك من أول فكرة: نفهم جمهورها، نبني رسالتها، ونصنع لها محتوى يوقّف التمرير ويخلّي الناس تتكلم.</a:t>
            </a:r>
            <a:endParaRPr lang="ar-SA" sz="1600" dirty="0"/>
          </a:p>
        </p:txBody>
      </p:sp>
      <p:sp>
        <p:nvSpPr>
          <p:cNvPr id="5" name="About pillars"/>
          <p:cNvSpPr txBox="1"/>
          <p:nvPr/>
        </p:nvSpPr>
        <p:spPr>
          <a:xfrm>
            <a:off x="6583680" y="5120640"/>
            <a:ext cx="5056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chemeClr val="accent2"/>
                </a:solidFill>
              </a:rPr>
              <a:t>تسويق   ·   إعلان   ·   محتوى</a:t>
            </a:r>
            <a:endParaRPr lang="ar-SA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ثلاث كلمات تختصرنا</a:t>
            </a:r>
            <a:endParaRPr lang="ar-SA" sz="4000" dirty="0"/>
          </a:p>
        </p:txBody>
      </p:sp>
      <p:sp>
        <p:nvSpPr>
          <p:cNvPr id="3" name="Pillar 1 number"/>
          <p:cNvSpPr txBox="1"/>
          <p:nvPr/>
        </p:nvSpPr>
        <p:spPr>
          <a:xfrm>
            <a:off x="8249717" y="1600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01</a:t>
            </a:r>
            <a:endParaRPr lang="en-US" sz="5400" dirty="0"/>
          </a:p>
        </p:txBody>
      </p:sp>
      <p:sp>
        <p:nvSpPr>
          <p:cNvPr id="4" name="Pillar 1 word"/>
          <p:cNvSpPr txBox="1"/>
          <p:nvPr/>
        </p:nvSpPr>
        <p:spPr>
          <a:xfrm>
            <a:off x="8249717" y="2468880"/>
            <a:ext cx="3393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chemeClr val="bg1"/>
                </a:solidFill>
              </a:rPr>
              <a:t>تسويق</a:t>
            </a:r>
            <a:endParaRPr lang="ar-SA" sz="6000" dirty="0"/>
          </a:p>
        </p:txBody>
      </p:sp>
      <p:sp>
        <p:nvSpPr>
          <p:cNvPr id="5" name="Pillar 1 list"/>
          <p:cNvSpPr txBox="1"/>
          <p:nvPr/>
        </p:nvSpPr>
        <p:spPr>
          <a:xfrm>
            <a:off x="8249717" y="3657600"/>
            <a:ext cx="33933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استراتيجية التسويق</a:t>
            </a:r>
            <a:endParaRPr lang="ar-SA" sz="17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التسويق الرقمي</a:t>
            </a:r>
            <a:endParaRPr lang="ar-SA" sz="17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تحليل الجمهور والمنافسين</a:t>
            </a:r>
            <a:endParaRPr lang="ar-SA" sz="1700" dirty="0"/>
          </a:p>
        </p:txBody>
      </p:sp>
      <p:sp>
        <p:nvSpPr>
          <p:cNvPr id="6" name="Pillar divider 1"/>
          <p:cNvSpPr/>
          <p:nvPr/>
        </p:nvSpPr>
        <p:spPr>
          <a:xfrm>
            <a:off x="8021117" y="1691640"/>
            <a:ext cx="0" cy="4023360"/>
          </a:xfrm>
          <a:prstGeom prst="line">
            <a:avLst/>
          </a:prstGeom>
          <a:noFill/>
          <a:ln w="12700">
            <a:solidFill>
              <a:srgbClr val="2A3570"/>
            </a:solidFill>
            <a:prstDash val="solid"/>
          </a:ln>
        </p:spPr>
      </p:sp>
      <p:sp>
        <p:nvSpPr>
          <p:cNvPr id="7" name="Pillar 2 number"/>
          <p:cNvSpPr txBox="1"/>
          <p:nvPr/>
        </p:nvSpPr>
        <p:spPr>
          <a:xfrm>
            <a:off x="4399178" y="1600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02</a:t>
            </a:r>
            <a:endParaRPr lang="en-US" sz="5400" dirty="0"/>
          </a:p>
        </p:txBody>
      </p:sp>
      <p:sp>
        <p:nvSpPr>
          <p:cNvPr id="8" name="Pillar 2 word"/>
          <p:cNvSpPr txBox="1"/>
          <p:nvPr/>
        </p:nvSpPr>
        <p:spPr>
          <a:xfrm>
            <a:off x="4399178" y="2468880"/>
            <a:ext cx="3393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chemeClr val="bg1"/>
                </a:solidFill>
              </a:rPr>
              <a:t>إعلان</a:t>
            </a:r>
            <a:endParaRPr lang="ar-SA" sz="6000" dirty="0"/>
          </a:p>
        </p:txBody>
      </p:sp>
      <p:sp>
        <p:nvSpPr>
          <p:cNvPr id="9" name="Pillar 2 list"/>
          <p:cNvSpPr txBox="1"/>
          <p:nvPr/>
        </p:nvSpPr>
        <p:spPr>
          <a:xfrm>
            <a:off x="4399178" y="3657600"/>
            <a:ext cx="33933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الحملات الإعلانية</a:t>
            </a:r>
            <a:endParaRPr lang="ar-SA" sz="17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الإعلانات المدفوعة</a:t>
            </a:r>
            <a:endParaRPr lang="ar-SA" sz="17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متابعة الأداء والنتائج</a:t>
            </a:r>
            <a:endParaRPr lang="ar-SA" sz="1700" dirty="0"/>
          </a:p>
        </p:txBody>
      </p:sp>
      <p:sp>
        <p:nvSpPr>
          <p:cNvPr id="10" name="Pillar divider 2"/>
          <p:cNvSpPr/>
          <p:nvPr/>
        </p:nvSpPr>
        <p:spPr>
          <a:xfrm>
            <a:off x="4170578" y="1691640"/>
            <a:ext cx="0" cy="4023360"/>
          </a:xfrm>
          <a:prstGeom prst="line">
            <a:avLst/>
          </a:prstGeom>
          <a:noFill/>
          <a:ln w="12700">
            <a:solidFill>
              <a:srgbClr val="2A3570"/>
            </a:solidFill>
            <a:prstDash val="solid"/>
          </a:ln>
        </p:spPr>
      </p:sp>
      <p:sp>
        <p:nvSpPr>
          <p:cNvPr id="11" name="Pillar 3 number"/>
          <p:cNvSpPr txBox="1"/>
          <p:nvPr/>
        </p:nvSpPr>
        <p:spPr>
          <a:xfrm>
            <a:off x="548640" y="1600200"/>
            <a:ext cx="33933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03</a:t>
            </a:r>
            <a:endParaRPr lang="en-US" sz="5400" dirty="0"/>
          </a:p>
        </p:txBody>
      </p:sp>
      <p:sp>
        <p:nvSpPr>
          <p:cNvPr id="12" name="Pillar 3 word"/>
          <p:cNvSpPr txBox="1"/>
          <p:nvPr/>
        </p:nvSpPr>
        <p:spPr>
          <a:xfrm>
            <a:off x="548640" y="2468880"/>
            <a:ext cx="33933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chemeClr val="bg1"/>
                </a:solidFill>
              </a:rPr>
              <a:t>محتوى</a:t>
            </a:r>
            <a:endParaRPr lang="ar-SA" sz="6000" dirty="0"/>
          </a:p>
        </p:txBody>
      </p:sp>
      <p:sp>
        <p:nvSpPr>
          <p:cNvPr id="13" name="Pillar 3 list"/>
          <p:cNvSpPr txBox="1"/>
          <p:nvPr/>
        </p:nvSpPr>
        <p:spPr>
          <a:xfrm>
            <a:off x="548640" y="3657600"/>
            <a:ext cx="339333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كتابة المحتوى</a:t>
            </a:r>
            <a:endParaRPr lang="ar-SA" sz="17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التصميم والهوية البصرية</a:t>
            </a:r>
            <a:endParaRPr lang="ar-SA" sz="17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الفيديو والموشن</a:t>
            </a:r>
            <a:endParaRPr lang="ar-SA" sz="1700" dirty="0"/>
          </a:p>
          <a:p>
            <a:pPr algn="r" indent="0" marL="0">
              <a:spcAft>
                <a:spcPts val="800"/>
              </a:spcAft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إدارة الحسابات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من الفكرة… إلى الإطلاق</a:t>
            </a:r>
            <a:endParaRPr lang="ar-SA" sz="4000" dirty="0"/>
          </a:p>
        </p:txBody>
      </p:sp>
      <p:sp>
        <p:nvSpPr>
          <p:cNvPr id="3" name="Step 1 panel"/>
          <p:cNvSpPr/>
          <p:nvPr/>
        </p:nvSpPr>
        <p:spPr>
          <a:xfrm>
            <a:off x="9109481" y="1645920"/>
            <a:ext cx="2533574" cy="4114800"/>
          </a:xfrm>
          <a:prstGeom prst="roundRect">
            <a:avLst>
              <a:gd name="adj" fmla="val 4331"/>
            </a:avLst>
          </a:prstGeom>
          <a:solidFill>
            <a:srgbClr val="0E1640"/>
          </a:solidFill>
          <a:ln w="12700">
            <a:solidFill>
              <a:srgbClr val="232E6B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9383801" y="1874520"/>
            <a:ext cx="19849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chemeClr val="accent2"/>
                </a:solidFill>
              </a:rPr>
              <a:t>01</a:t>
            </a:r>
            <a:endParaRPr lang="en-US" sz="8800" dirty="0"/>
          </a:p>
        </p:txBody>
      </p:sp>
      <p:sp>
        <p:nvSpPr>
          <p:cNvPr id="5" name="Step 1 title"/>
          <p:cNvSpPr txBox="1"/>
          <p:nvPr/>
        </p:nvSpPr>
        <p:spPr>
          <a:xfrm>
            <a:off x="9383801" y="3429000"/>
            <a:ext cx="19849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نفهم</a:t>
            </a:r>
            <a:endParaRPr lang="ar-SA" sz="4000" dirty="0"/>
          </a:p>
        </p:txBody>
      </p:sp>
      <p:sp>
        <p:nvSpPr>
          <p:cNvPr id="6" name="Step 1 body"/>
          <p:cNvSpPr txBox="1"/>
          <p:nvPr/>
        </p:nvSpPr>
        <p:spPr>
          <a:xfrm>
            <a:off x="9383801" y="4343400"/>
            <a:ext cx="19849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2"/>
                </a:solidFill>
              </a:rPr>
              <a:t>جمهورك وسوقك ومنافسيك قبل أي كلمة.</a:t>
            </a:r>
            <a:endParaRPr lang="ar-SA" sz="1600" dirty="0"/>
          </a:p>
        </p:txBody>
      </p:sp>
      <p:sp>
        <p:nvSpPr>
          <p:cNvPr id="7" name="Step 2 panel"/>
          <p:cNvSpPr/>
          <p:nvPr/>
        </p:nvSpPr>
        <p:spPr>
          <a:xfrm>
            <a:off x="6255868" y="1645920"/>
            <a:ext cx="2533574" cy="4114800"/>
          </a:xfrm>
          <a:prstGeom prst="roundRect">
            <a:avLst>
              <a:gd name="adj" fmla="val 4331"/>
            </a:avLst>
          </a:prstGeom>
          <a:solidFill>
            <a:srgbClr val="0E1640"/>
          </a:solidFill>
          <a:ln w="12700">
            <a:solidFill>
              <a:srgbClr val="232E6B"/>
            </a:solidFill>
            <a:prstDash val="solid"/>
          </a:ln>
        </p:spPr>
      </p:sp>
      <p:sp>
        <p:nvSpPr>
          <p:cNvPr id="8" name="Step 2 number"/>
          <p:cNvSpPr txBox="1"/>
          <p:nvPr/>
        </p:nvSpPr>
        <p:spPr>
          <a:xfrm>
            <a:off x="6530188" y="1874520"/>
            <a:ext cx="19849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chemeClr val="accent2"/>
                </a:solidFill>
              </a:rPr>
              <a:t>02</a:t>
            </a:r>
            <a:endParaRPr lang="en-US" sz="8800" dirty="0"/>
          </a:p>
        </p:txBody>
      </p:sp>
      <p:sp>
        <p:nvSpPr>
          <p:cNvPr id="9" name="Step 2 title"/>
          <p:cNvSpPr txBox="1"/>
          <p:nvPr/>
        </p:nvSpPr>
        <p:spPr>
          <a:xfrm>
            <a:off x="6530188" y="3429000"/>
            <a:ext cx="19849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نخطط</a:t>
            </a:r>
            <a:endParaRPr lang="ar-SA" sz="4000" dirty="0"/>
          </a:p>
        </p:txBody>
      </p:sp>
      <p:sp>
        <p:nvSpPr>
          <p:cNvPr id="10" name="Step 2 body"/>
          <p:cNvSpPr txBox="1"/>
          <p:nvPr/>
        </p:nvSpPr>
        <p:spPr>
          <a:xfrm>
            <a:off x="6530188" y="4343400"/>
            <a:ext cx="19849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2"/>
                </a:solidFill>
              </a:rPr>
              <a:t>أهداف ورسائل وقنوات واضحة.</a:t>
            </a:r>
            <a:endParaRPr lang="ar-SA" sz="1600" dirty="0"/>
          </a:p>
        </p:txBody>
      </p:sp>
      <p:sp>
        <p:nvSpPr>
          <p:cNvPr id="11" name="Step 3 panel"/>
          <p:cNvSpPr/>
          <p:nvPr/>
        </p:nvSpPr>
        <p:spPr>
          <a:xfrm>
            <a:off x="3402254" y="1645920"/>
            <a:ext cx="2533574" cy="4114800"/>
          </a:xfrm>
          <a:prstGeom prst="roundRect">
            <a:avLst>
              <a:gd name="adj" fmla="val 4331"/>
            </a:avLst>
          </a:prstGeom>
          <a:solidFill>
            <a:srgbClr val="0E1640"/>
          </a:solidFill>
          <a:ln w="12700">
            <a:solidFill>
              <a:srgbClr val="232E6B"/>
            </a:solidFill>
            <a:prstDash val="solid"/>
          </a:ln>
        </p:spPr>
      </p:sp>
      <p:sp>
        <p:nvSpPr>
          <p:cNvPr id="12" name="Step 3 number"/>
          <p:cNvSpPr txBox="1"/>
          <p:nvPr/>
        </p:nvSpPr>
        <p:spPr>
          <a:xfrm>
            <a:off x="3676574" y="1874520"/>
            <a:ext cx="19849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chemeClr val="accent2"/>
                </a:solidFill>
              </a:rPr>
              <a:t>03</a:t>
            </a:r>
            <a:endParaRPr lang="en-US" sz="8800" dirty="0"/>
          </a:p>
        </p:txBody>
      </p:sp>
      <p:sp>
        <p:nvSpPr>
          <p:cNvPr id="13" name="Step 3 title"/>
          <p:cNvSpPr txBox="1"/>
          <p:nvPr/>
        </p:nvSpPr>
        <p:spPr>
          <a:xfrm>
            <a:off x="3676574" y="3429000"/>
            <a:ext cx="19849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نصنع</a:t>
            </a:r>
            <a:endParaRPr lang="ar-SA" sz="4000" dirty="0"/>
          </a:p>
        </p:txBody>
      </p:sp>
      <p:sp>
        <p:nvSpPr>
          <p:cNvPr id="14" name="Step 3 body"/>
          <p:cNvSpPr txBox="1"/>
          <p:nvPr/>
        </p:nvSpPr>
        <p:spPr>
          <a:xfrm>
            <a:off x="3676574" y="4343400"/>
            <a:ext cx="19849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2"/>
                </a:solidFill>
              </a:rPr>
              <a:t>كتابة وتصميم وفيديو بهوية وحدة.</a:t>
            </a:r>
            <a:endParaRPr lang="ar-SA" sz="1600" dirty="0"/>
          </a:p>
        </p:txBody>
      </p:sp>
      <p:sp>
        <p:nvSpPr>
          <p:cNvPr id="15" name="Step 4 panel"/>
          <p:cNvSpPr/>
          <p:nvPr/>
        </p:nvSpPr>
        <p:spPr>
          <a:xfrm>
            <a:off x="548640" y="1645920"/>
            <a:ext cx="2533574" cy="4114800"/>
          </a:xfrm>
          <a:prstGeom prst="roundRect">
            <a:avLst>
              <a:gd name="adj" fmla="val 43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Step 4 number"/>
          <p:cNvSpPr txBox="1"/>
          <p:nvPr/>
        </p:nvSpPr>
        <p:spPr>
          <a:xfrm>
            <a:off x="822960" y="1874520"/>
            <a:ext cx="198493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0" b="1" dirty="0">
                <a:solidFill>
                  <a:schemeClr val="bg1"/>
                </a:solidFill>
              </a:rPr>
              <a:t>04</a:t>
            </a:r>
            <a:endParaRPr lang="en-US" sz="8800" dirty="0"/>
          </a:p>
        </p:txBody>
      </p:sp>
      <p:sp>
        <p:nvSpPr>
          <p:cNvPr id="17" name="Step 4 title"/>
          <p:cNvSpPr txBox="1"/>
          <p:nvPr/>
        </p:nvSpPr>
        <p:spPr>
          <a:xfrm>
            <a:off x="822960" y="3429000"/>
            <a:ext cx="19849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نطلق</a:t>
            </a:r>
            <a:endParaRPr lang="ar-SA" sz="4000" dirty="0"/>
          </a:p>
        </p:txBody>
      </p:sp>
      <p:sp>
        <p:nvSpPr>
          <p:cNvPr id="18" name="Step 4 body"/>
          <p:cNvSpPr txBox="1"/>
          <p:nvPr/>
        </p:nvSpPr>
        <p:spPr>
          <a:xfrm>
            <a:off x="822960" y="4343400"/>
            <a:ext cx="198493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ونقيس النتائج… ونطوّر باستمرار.</a:t>
            </a:r>
            <a:endParaRPr lang="ar-S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شغلنا يتكلم</a:t>
            </a:r>
            <a:endParaRPr lang="ar-SA" sz="4000" dirty="0"/>
          </a:p>
        </p:txBody>
      </p:sp>
      <p:pic>
        <p:nvPicPr>
          <p:cNvPr id="3" name="Work rush" descr="/home/user/ksaa/neo-capta-profile/assets/work-ru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0078" y="1554480"/>
            <a:ext cx="7086600" cy="3986213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  <p:pic>
        <p:nvPicPr>
          <p:cNvPr id="4" name="Work impact" descr="/home/user/ksaa/neo-capta-profile/assets/work-impac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18" y="1554480"/>
            <a:ext cx="3380740" cy="190166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  <p:pic>
        <p:nvPicPr>
          <p:cNvPr id="5" name="Work blank page" descr="/home/user/ksaa/neo-capta-profile/assets/work-blank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18" y="3639026"/>
            <a:ext cx="3380740" cy="190166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  <p:sp>
        <p:nvSpPr>
          <p:cNvPr id="6" name="Caption «سرعة» — قطعات على الإيقاع"/>
          <p:cNvSpPr txBox="1"/>
          <p:nvPr/>
        </p:nvSpPr>
        <p:spPr>
          <a:xfrm>
            <a:off x="4380078" y="5650421"/>
            <a:ext cx="7086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«سرعة» — قطعات على الإيقاع</a:t>
            </a:r>
            <a:endParaRPr lang="ar-SA" sz="1200" dirty="0"/>
          </a:p>
        </p:txBody>
      </p:sp>
      <p:sp>
        <p:nvSpPr>
          <p:cNvPr id="7" name="Caption «وش نقول؟» و«الصفحة الفاضية»"/>
          <p:cNvSpPr txBox="1"/>
          <p:nvPr/>
        </p:nvSpPr>
        <p:spPr>
          <a:xfrm>
            <a:off x="725018" y="5650421"/>
            <a:ext cx="33807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200" dirty="0">
                <a:solidFill>
                  <a:schemeClr val="accent6"/>
                </a:solidFill>
              </a:rPr>
              <a:t>«وش نقول؟» و«الصفحة الفاضية»</a:t>
            </a:r>
            <a:endParaRPr lang="ar-SA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لكل شاشة… نسخة</a:t>
            </a:r>
            <a:endParaRPr lang="ar-SA" sz="4000" dirty="0"/>
          </a:p>
        </p:txBody>
      </p:sp>
      <p:pic>
        <p:nvPicPr>
          <p:cNvPr id="3" name="Format 1" descr="/home/user/ksaa/neo-capta-profile/assets/work-st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8968" y="1463040"/>
            <a:ext cx="2108835" cy="374904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  <p:sp>
        <p:nvSpPr>
          <p:cNvPr id="4" name="Format 1 label"/>
          <p:cNvSpPr txBox="1"/>
          <p:nvPr/>
        </p:nvSpPr>
        <p:spPr>
          <a:xfrm>
            <a:off x="7833208" y="5349240"/>
            <a:ext cx="2840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2"/>
                </a:solidFill>
              </a:rPr>
              <a:t>9:16 — ريلز وستوري</a:t>
            </a:r>
            <a:endParaRPr lang="ar-SA" sz="1400" dirty="0"/>
          </a:p>
        </p:txBody>
      </p:sp>
      <p:pic>
        <p:nvPicPr>
          <p:cNvPr id="5" name="Format 2" descr="/home/user/ksaa/neo-capta-profile/assets/work-carouse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8" y="2103120"/>
            <a:ext cx="3108960" cy="310896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  <p:sp>
        <p:nvSpPr>
          <p:cNvPr id="6" name="Format 2 label"/>
          <p:cNvSpPr txBox="1"/>
          <p:nvPr/>
        </p:nvSpPr>
        <p:spPr>
          <a:xfrm>
            <a:off x="4175608" y="5349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2"/>
                </a:solidFill>
              </a:rPr>
              <a:t>1:1 — بوستات</a:t>
            </a:r>
            <a:endParaRPr lang="ar-SA" sz="1400" dirty="0"/>
          </a:p>
        </p:txBody>
      </p:sp>
      <p:pic>
        <p:nvPicPr>
          <p:cNvPr id="7" name="Format 3" descr="/home/user/ksaa/neo-capta-profile/assets/work-story-v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893" y="1463040"/>
            <a:ext cx="2108835" cy="374904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45000"/>
              </a:srgbClr>
            </a:outerShdw>
          </a:effectLst>
        </p:spPr>
      </p:pic>
      <p:sp>
        <p:nvSpPr>
          <p:cNvPr id="8" name="Format 3 label"/>
          <p:cNvSpPr txBox="1"/>
          <p:nvPr/>
        </p:nvSpPr>
        <p:spPr>
          <a:xfrm>
            <a:off x="1518133" y="5349240"/>
            <a:ext cx="28403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chemeClr val="bg2"/>
                </a:solidFill>
              </a:rPr>
              <a:t>9:16 — تيك توك</a:t>
            </a:r>
            <a:endParaRPr lang="ar-SA" sz="1400" dirty="0"/>
          </a:p>
        </p:txBody>
      </p:sp>
      <p:sp>
        <p:nvSpPr>
          <p:cNvPr id="9" name="Formats note"/>
          <p:cNvSpPr txBox="1"/>
          <p:nvPr/>
        </p:nvSpPr>
        <p:spPr>
          <a:xfrm>
            <a:off x="548640" y="576072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وكل نسخة بالعربي والإنقليزي.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57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4000" b="1" dirty="0">
                <a:solidFill>
                  <a:schemeClr val="bg1"/>
                </a:solidFill>
              </a:rPr>
              <a:t>ليش Neo Capta؟</a:t>
            </a:r>
            <a:endParaRPr lang="ar-SA" sz="4000" dirty="0"/>
          </a:p>
        </p:txBody>
      </p:sp>
      <p:sp>
        <p:nvSpPr>
          <p:cNvPr id="3" name="Why 1 number"/>
          <p:cNvSpPr txBox="1"/>
          <p:nvPr/>
        </p:nvSpPr>
        <p:spPr>
          <a:xfrm>
            <a:off x="10271455" y="15544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01</a:t>
            </a:r>
            <a:endParaRPr lang="en-US" sz="7200" dirty="0"/>
          </a:p>
        </p:txBody>
      </p:sp>
      <p:sp>
        <p:nvSpPr>
          <p:cNvPr id="4" name="Why 1 title"/>
          <p:cNvSpPr txBox="1"/>
          <p:nvPr/>
        </p:nvSpPr>
        <p:spPr>
          <a:xfrm>
            <a:off x="548640" y="160020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bg1"/>
                </a:solidFill>
              </a:rPr>
              <a:t>نصمم لأول ثانيتين.</a:t>
            </a:r>
            <a:endParaRPr lang="ar-SA" sz="3000" dirty="0"/>
          </a:p>
        </p:txBody>
      </p:sp>
      <p:sp>
        <p:nvSpPr>
          <p:cNvPr id="5" name="Why 1 body"/>
          <p:cNvSpPr txBox="1"/>
          <p:nvPr/>
        </p:nvSpPr>
        <p:spPr>
          <a:xfrm>
            <a:off x="548640" y="2221992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لأنها اللي تقرر إذا الناس بتوقف… أو تكمل تمرير.</a:t>
            </a:r>
            <a:endParaRPr lang="ar-SA" sz="1700" dirty="0"/>
          </a:p>
        </p:txBody>
      </p:sp>
      <p:sp>
        <p:nvSpPr>
          <p:cNvPr id="6" name="Why 2 number"/>
          <p:cNvSpPr txBox="1"/>
          <p:nvPr/>
        </p:nvSpPr>
        <p:spPr>
          <a:xfrm>
            <a:off x="10271455" y="30175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02</a:t>
            </a:r>
            <a:endParaRPr lang="en-US" sz="7200" dirty="0"/>
          </a:p>
        </p:txBody>
      </p:sp>
      <p:sp>
        <p:nvSpPr>
          <p:cNvPr id="7" name="Why 2 title"/>
          <p:cNvSpPr txBox="1"/>
          <p:nvPr/>
        </p:nvSpPr>
        <p:spPr>
          <a:xfrm>
            <a:off x="548640" y="306324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bg1"/>
                </a:solidFill>
              </a:rPr>
              <a:t>فريق واحد، من الفكرة للنتيجة.</a:t>
            </a:r>
            <a:endParaRPr lang="ar-SA" sz="3000" dirty="0"/>
          </a:p>
        </p:txBody>
      </p:sp>
      <p:sp>
        <p:nvSpPr>
          <p:cNvPr id="8" name="Why 2 body"/>
          <p:cNvSpPr txBox="1"/>
          <p:nvPr/>
        </p:nvSpPr>
        <p:spPr>
          <a:xfrm>
            <a:off x="548640" y="3685032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كتابة وتصميم وفيديو ونشر وتحليل… تحت سقف واحد.</a:t>
            </a:r>
            <a:endParaRPr lang="ar-SA" sz="1700" dirty="0"/>
          </a:p>
        </p:txBody>
      </p:sp>
      <p:sp>
        <p:nvSpPr>
          <p:cNvPr id="9" name="Why 3 number"/>
          <p:cNvSpPr txBox="1"/>
          <p:nvPr/>
        </p:nvSpPr>
        <p:spPr>
          <a:xfrm>
            <a:off x="10271455" y="44805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03</a:t>
            </a:r>
            <a:endParaRPr lang="en-US" sz="7200" dirty="0"/>
          </a:p>
        </p:txBody>
      </p:sp>
      <p:sp>
        <p:nvSpPr>
          <p:cNvPr id="10" name="Why 3 title"/>
          <p:cNvSpPr txBox="1"/>
          <p:nvPr/>
        </p:nvSpPr>
        <p:spPr>
          <a:xfrm>
            <a:off x="548640" y="4526280"/>
            <a:ext cx="94484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chemeClr val="bg1"/>
                </a:solidFill>
              </a:rPr>
              <a:t>أرقام قبل الكلام.</a:t>
            </a:r>
            <a:endParaRPr lang="ar-SA" sz="3000" dirty="0"/>
          </a:p>
        </p:txBody>
      </p:sp>
      <p:sp>
        <p:nvSpPr>
          <p:cNvPr id="11" name="Why 3 body"/>
          <p:cNvSpPr txBox="1"/>
          <p:nvPr/>
        </p:nvSpPr>
        <p:spPr>
          <a:xfrm>
            <a:off x="548640" y="5148072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700" dirty="0">
                <a:solidFill>
                  <a:schemeClr val="bg2"/>
                </a:solidFill>
              </a:rPr>
              <a:t>نحدد الأهداف من البداية، ونرجع لك بتقارير واضحة.</a:t>
            </a:r>
            <a:endParaRPr lang="ar-S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 txBox="1"/>
          <p:nvPr/>
        </p:nvSpPr>
        <p:spPr>
          <a:xfrm>
            <a:off x="548640" y="2011680"/>
            <a:ext cx="1109441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ar-SA" altLang="en-US" sz="6600" b="1" dirty="0">
                <a:solidFill>
                  <a:schemeClr val="bg2"/>
                </a:solidFill>
              </a:rPr>
              <a:t>لا نصنع محتوى فقط…</a:t>
            </a:r>
            <a:endParaRPr lang="ar-SA" sz="66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ar-SA" altLang="en-US" sz="6600" b="1" dirty="0">
                <a:solidFill>
                  <a:schemeClr val="accent2"/>
                </a:solidFill>
              </a:rPr>
              <a:t>نصنع تأثيرًا.</a:t>
            </a:r>
            <a:endParaRPr lang="ar-SA" sz="6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/home/user/ksaa/neo-capta-profile/assets/logo-dark-b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023360" cy="2915806"/>
          </a:xfrm>
          <a:prstGeom prst="rect">
            <a:avLst/>
          </a:prstGeom>
        </p:spPr>
      </p:pic>
      <p:sp>
        <p:nvSpPr>
          <p:cNvPr id="3" name="CTA"/>
          <p:cNvSpPr txBox="1"/>
          <p:nvPr/>
        </p:nvSpPr>
        <p:spPr>
          <a:xfrm>
            <a:off x="5852160" y="1371600"/>
            <a:ext cx="57881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8000" b="1" dirty="0">
                <a:solidFill>
                  <a:schemeClr val="bg1"/>
                </a:solidFill>
              </a:rPr>
              <a:t>يلا نبدأ.</a:t>
            </a:r>
            <a:endParaRPr lang="ar-SA" sz="8000" dirty="0"/>
          </a:p>
        </p:txBody>
      </p:sp>
      <p:sp>
        <p:nvSpPr>
          <p:cNvPr id="4" name="CTA sub"/>
          <p:cNvSpPr txBox="1"/>
          <p:nvPr/>
        </p:nvSpPr>
        <p:spPr>
          <a:xfrm>
            <a:off x="5852160" y="2697480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400" b="1" dirty="0">
                <a:solidFill>
                  <a:schemeClr val="accent2"/>
                </a:solidFill>
              </a:rPr>
              <a:t>عندك فكرة؟ إحنا نكمّل القصة.</a:t>
            </a:r>
            <a:endParaRPr lang="ar-SA" sz="2400" dirty="0"/>
          </a:p>
        </p:txBody>
      </p:sp>
      <p:sp>
        <p:nvSpPr>
          <p:cNvPr id="5" name="Contact البريد"/>
          <p:cNvSpPr txBox="1"/>
          <p:nvPr/>
        </p:nvSpPr>
        <p:spPr>
          <a:xfrm>
            <a:off x="5852160" y="3611880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البريد   </a:t>
            </a:r>
            <a:pPr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[أضف البريد الإلكتروني]</a:t>
            </a:r>
            <a:endParaRPr lang="ar-SA" sz="1800" dirty="0"/>
          </a:p>
        </p:txBody>
      </p:sp>
      <p:sp>
        <p:nvSpPr>
          <p:cNvPr id="6" name="Contact الجوال"/>
          <p:cNvSpPr txBox="1"/>
          <p:nvPr/>
        </p:nvSpPr>
        <p:spPr>
          <a:xfrm>
            <a:off x="5852160" y="4160520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الجوال   </a:t>
            </a:r>
            <a:pPr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[أضف رقم التواصل]</a:t>
            </a:r>
            <a:endParaRPr lang="ar-SA" sz="1800" dirty="0"/>
          </a:p>
        </p:txBody>
      </p:sp>
      <p:sp>
        <p:nvSpPr>
          <p:cNvPr id="7" name="Contact الموقع"/>
          <p:cNvSpPr txBox="1"/>
          <p:nvPr/>
        </p:nvSpPr>
        <p:spPr>
          <a:xfrm>
            <a:off x="5852160" y="4709160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الموقع   </a:t>
            </a:r>
            <a:pPr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[أضف رابط الموقع]</a:t>
            </a:r>
            <a:endParaRPr lang="ar-SA" sz="1800" dirty="0"/>
          </a:p>
        </p:txBody>
      </p:sp>
      <p:sp>
        <p:nvSpPr>
          <p:cNvPr id="8" name="Contact سوشال"/>
          <p:cNvSpPr txBox="1"/>
          <p:nvPr/>
        </p:nvSpPr>
        <p:spPr>
          <a:xfrm>
            <a:off x="5852160" y="5257800"/>
            <a:ext cx="5788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SA" altLang="en-US" sz="1800" b="1" dirty="0">
                <a:solidFill>
                  <a:schemeClr val="accent2"/>
                </a:solidFill>
              </a:rPr>
              <a:t>سوشال   </a:t>
            </a:r>
            <a:pPr algn="r" indent="0" marL="0">
              <a:buNone/>
            </a:pPr>
            <a:r>
              <a:rPr lang="ar-SA" altLang="en-US" sz="1800" dirty="0">
                <a:solidFill>
                  <a:schemeClr val="bg2"/>
                </a:solidFill>
              </a:rPr>
              <a:t>[أضف الحسابات]</a:t>
            </a:r>
            <a:endParaRPr lang="ar-S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o Capta Bold">
  <a:themeElements>
    <a:clrScheme name="Neo Capta Bold">
      <a:dk1>
        <a:srgbClr val="05081A"/>
      </a:dk1>
      <a:lt1>
        <a:srgbClr val="FFFFFF"/>
      </a:lt1>
      <a:dk2>
        <a:srgbClr val="17246B"/>
      </a:dk2>
      <a:lt2>
        <a:srgbClr val="E8E9EE"/>
      </a:lt2>
      <a:accent1>
        <a:srgbClr val="3B4CC0"/>
      </a:accent1>
      <a:accent2>
        <a:srgbClr val="7486F2"/>
      </a:accent2>
      <a:accent3>
        <a:srgbClr val="E8E9EE"/>
      </a:accent3>
      <a:accent4>
        <a:srgbClr val="0A1033"/>
      </a:accent4>
      <a:accent5>
        <a:srgbClr val="FF5A7A"/>
      </a:accent5>
      <a:accent6>
        <a:srgbClr val="8C93B8"/>
      </a:accent6>
      <a:hlink>
        <a:srgbClr val="7486F2"/>
      </a:hlink>
      <a:folHlink>
        <a:srgbClr val="3B4CC0"/>
      </a:folHlink>
    </a:clrScheme>
    <a:fontScheme name="Neo Capta Bol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Neo Capta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 Capta — الملف التعريفي</dc:title>
  <dc:subject>PptxGenJS Presentation</dc:subject>
  <dc:creator>Neo Capta</dc:creator>
  <cp:lastModifiedBy>Neo Capta</cp:lastModifiedBy>
  <cp:revision>1</cp:revision>
  <dcterms:created xsi:type="dcterms:W3CDTF">2026-10-21T03:39:07Z</dcterms:created>
  <dcterms:modified xsi:type="dcterms:W3CDTF">2026-10-21T03:39:07Z</dcterms:modified>
</cp:coreProperties>
</file>