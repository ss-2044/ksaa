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بداية" id="{808f98df-c0ce-7678-797e-51057274a769}">
          <p14:sldIdLst>
            <p14:sldId id="256"/>
            <p14:sldId id="257"/>
            <p14:sldId id="258"/>
          </p14:sldIdLst>
        </p14:section>
        <p14:section name="الخدمات" id="{f1d8b302-864b-1042-d23b-b7c0c8e1e86e}">
          <p14:sldIdLst>
            <p14:sldId id="259"/>
            <p14:sldId id="260"/>
            <p14:sldId id="261"/>
          </p14:sldIdLst>
        </p14:section>
        <p14:section name="أعمالنا" id="{a8cf119f-83f7-4930-15e9-ce72db1f0f7d}">
          <p14:sldIdLst>
            <p14:sldId id="262"/>
            <p14:sldId id="263"/>
          </p14:sldIdLst>
        </p14:section>
        <p14:section name="التواصل" id="{207f056d-2f03-b5c7-1f95-41bd08c8fdd7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افتتاحية: Neo Capta وكالة تسويق وإعلان وصناعة محتوى. الشعار: فكرتك. تأثيرنا.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نبذة عن الوكالة. الصورة لقطة من فيديو «من الفكرة إلى التأثير».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صياغة مقترحة للرؤية والرسالة والقيم — راجعها مع الإدارة قبل الاعتماد.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ست خدمات رئيسية. يمكن تعديل الأسماء حسب العروض الفعلية للوكالة.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أربع مراحل تُقرأ من اليمين لليسار.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 نقاط تميّز. الصورة من فيديو «وقّف التمرير».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لقطات من فيديوهات Neo Capta المنتجة: عربي وإنقليزي بعدة مقاسات.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نفس الفكرة تُنتج بثلاثة مقاسات وبلغتين.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الختام قبل التواصل.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عبّئ بيانات التواصل الفعلية مكان الأقواس.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LOSE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35040" y="2148840"/>
            <a:ext cx="5605272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SA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035040" y="3749040"/>
            <a:ext cx="56052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2200" b="1" dirty="0">
                <a:solidFill>
                  <a:schemeClr val="accent2"/>
                </a:solidFill>
              </a:defRPr>
            </a:lvl1pPr>
          </a:lstStyle>
          <a:p>
            <a:pPr algn="r" indent="0" marL="0">
              <a:buNone/>
            </a:pPr>
            <a:endParaRPr lang="ar-SA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ksaa/neo-capta-profile/assets/halftone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ksaa/neo-capta-profile/assets/logo-light-b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99632"/>
            <a:ext cx="731520" cy="530147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36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SA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97280" y="2240280"/>
            <a:ext cx="9997135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ctr" indent="0" marL="0">
              <a:lnSpc>
                <a:spcPct val="130000"/>
              </a:lnSpc>
              <a:buNone/>
              <a:defRPr lang="ar-SA" altLang="en-US" sz="4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lnSpc>
                <a:spcPct val="130000"/>
              </a:lnSpc>
              <a:buNone/>
            </a:pPr>
            <a:endParaRPr lang="ar-SA" sz="4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35040" y="1417320"/>
            <a:ext cx="56052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SA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image" Target="../media/image-7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/home/user/ksaa/neo-capta-profile/assets/logo-dar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4663440" cy="3379684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6035040" y="1463040"/>
            <a:ext cx="5605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الملف التعريفي</a:t>
            </a:r>
            <a:endParaRPr lang="ar-SA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035040" y="2148840"/>
            <a:ext cx="56052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وكالة تسويق وإعلان وصناعة محتوى</a:t>
            </a:r>
            <a:endParaRPr lang="ar-SA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035040" y="3749040"/>
            <a:ext cx="5605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accent2"/>
                </a:solidFill>
              </a:rPr>
              <a:t>فكرتك. تأثيرنا.</a:t>
            </a:r>
            <a:endParaRPr lang="ar-SA" sz="2200" dirty="0"/>
          </a:p>
        </p:txBody>
      </p:sp>
      <p:sp>
        <p:nvSpPr>
          <p:cNvPr id="6" name="Services"/>
          <p:cNvSpPr txBox="1"/>
          <p:nvPr/>
        </p:nvSpPr>
        <p:spPr>
          <a:xfrm>
            <a:off x="6035040" y="5074920"/>
            <a:ext cx="5605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chemeClr val="accent3"/>
                </a:solidFill>
              </a:rPr>
              <a:t>MARKETING  •  ADVERTISING  •  CONTENT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ABOUT US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من نحن</a:t>
            </a:r>
            <a:endParaRPr lang="ar-SA" sz="3600" dirty="0"/>
          </a:p>
        </p:txBody>
      </p:sp>
      <p:pic>
        <p:nvPicPr>
          <p:cNvPr id="4" name="Intro still" descr="/home/user/ksaa/neo-capta-profile/assets/still-int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486400" cy="30861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A1033">
                <a:alpha val="25000"/>
              </a:srgbClr>
            </a:outerShdw>
          </a:effectLst>
        </p:spPr>
      </p:pic>
      <p:sp>
        <p:nvSpPr>
          <p:cNvPr id="5" name="Lead"/>
          <p:cNvSpPr txBox="1"/>
          <p:nvPr/>
        </p:nvSpPr>
        <p:spPr>
          <a:xfrm>
            <a:off x="6446520" y="1600200"/>
            <a:ext cx="5193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chemeClr val="accent1"/>
                </a:solidFill>
              </a:rPr>
              <a:t>نحوّل الأفكار إلى قصص… والقصص إلى تأثير.</a:t>
            </a:r>
            <a:endParaRPr lang="ar-SA" sz="2600" dirty="0"/>
          </a:p>
        </p:txBody>
      </p:sp>
      <p:sp>
        <p:nvSpPr>
          <p:cNvPr id="6" name="About body"/>
          <p:cNvSpPr txBox="1"/>
          <p:nvPr/>
        </p:nvSpPr>
        <p:spPr>
          <a:xfrm>
            <a:off x="6446520" y="2697480"/>
            <a:ext cx="5193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6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Neo Capta وكالة تسويق وإعلان وصناعة محتوى. نشتغل مع العلامات التجارية من أول فكرة لين تشوف أثرها: نفهم الجمهور، نبني الرسالة، ونصنع محتوى يوقّف التمرير ويخلّي الناس تتكلم عنك.</a:t>
            </a:r>
            <a:endParaRPr lang="ar-SA" sz="1600" dirty="0"/>
          </a:p>
        </p:txBody>
      </p:sp>
      <p:sp>
        <p:nvSpPr>
          <p:cNvPr id="7" name="Pill 1"/>
          <p:cNvSpPr/>
          <p:nvPr/>
        </p:nvSpPr>
        <p:spPr>
          <a:xfrm>
            <a:off x="10225735" y="4206240"/>
            <a:ext cx="141732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Pill 1 text"/>
          <p:cNvSpPr txBox="1"/>
          <p:nvPr/>
        </p:nvSpPr>
        <p:spPr>
          <a:xfrm>
            <a:off x="10225735" y="4206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accent1"/>
                </a:solidFill>
              </a:rPr>
              <a:t>تسويق</a:t>
            </a:r>
            <a:endParaRPr lang="ar-SA" sz="1600" dirty="0"/>
          </a:p>
        </p:txBody>
      </p:sp>
      <p:sp>
        <p:nvSpPr>
          <p:cNvPr id="9" name="Pill 2"/>
          <p:cNvSpPr/>
          <p:nvPr/>
        </p:nvSpPr>
        <p:spPr>
          <a:xfrm>
            <a:off x="8579815" y="4206240"/>
            <a:ext cx="141732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Pill 2 text"/>
          <p:cNvSpPr txBox="1"/>
          <p:nvPr/>
        </p:nvSpPr>
        <p:spPr>
          <a:xfrm>
            <a:off x="8579815" y="4206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accent1"/>
                </a:solidFill>
              </a:rPr>
              <a:t>إعلان</a:t>
            </a:r>
            <a:endParaRPr lang="ar-SA" sz="1600" dirty="0"/>
          </a:p>
        </p:txBody>
      </p:sp>
      <p:sp>
        <p:nvSpPr>
          <p:cNvPr id="11" name="Pill 3"/>
          <p:cNvSpPr/>
          <p:nvPr/>
        </p:nvSpPr>
        <p:spPr>
          <a:xfrm>
            <a:off x="6933895" y="4206240"/>
            <a:ext cx="1417320" cy="502920"/>
          </a:xfrm>
          <a:prstGeom prst="roundRect">
            <a:avLst>
              <a:gd name="adj" fmla="val 49091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Pill 3 text"/>
          <p:cNvSpPr txBox="1"/>
          <p:nvPr/>
        </p:nvSpPr>
        <p:spPr>
          <a:xfrm>
            <a:off x="6933895" y="4206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accent1"/>
                </a:solidFill>
              </a:rPr>
              <a:t>محتوى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VISION  •  MISSION  •  VALUES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رؤيتنا ورسالتنا وقيمنا</a:t>
            </a:r>
            <a:endParaRPr lang="ar-SA" sz="3600" dirty="0"/>
          </a:p>
        </p:txBody>
      </p:sp>
      <p:sp>
        <p:nvSpPr>
          <p:cNvPr id="4" name="Card 1"/>
          <p:cNvSpPr/>
          <p:nvPr/>
        </p:nvSpPr>
        <p:spPr>
          <a:xfrm>
            <a:off x="8214055" y="1600200"/>
            <a:ext cx="3429000" cy="356616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1 circle"/>
          <p:cNvSpPr/>
          <p:nvPr/>
        </p:nvSpPr>
        <p:spPr>
          <a:xfrm>
            <a:off x="10408615" y="20116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rd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159" y="2246224"/>
            <a:ext cx="399593" cy="399593"/>
          </a:xfrm>
          <a:prstGeom prst="rect">
            <a:avLst/>
          </a:prstGeom>
        </p:spPr>
      </p:pic>
      <p:sp>
        <p:nvSpPr>
          <p:cNvPr id="7" name="Card 1 title"/>
          <p:cNvSpPr txBox="1"/>
          <p:nvPr/>
        </p:nvSpPr>
        <p:spPr>
          <a:xfrm>
            <a:off x="8579815" y="3108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tx1"/>
                </a:solidFill>
              </a:rPr>
              <a:t>رؤيتنا</a:t>
            </a:r>
            <a:endParaRPr lang="ar-SA" sz="2400" dirty="0"/>
          </a:p>
        </p:txBody>
      </p:sp>
      <p:sp>
        <p:nvSpPr>
          <p:cNvPr id="8" name="Card 1 body"/>
          <p:cNvSpPr txBox="1"/>
          <p:nvPr/>
        </p:nvSpPr>
        <p:spPr>
          <a:xfrm>
            <a:off x="8579815" y="374904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أن نكون الشريك الأول لكل علامة تبي تترك أثر حقيقي في جمهورها.</a:t>
            </a:r>
            <a:endParaRPr lang="ar-SA" sz="1600" dirty="0"/>
          </a:p>
        </p:txBody>
      </p:sp>
      <p:sp>
        <p:nvSpPr>
          <p:cNvPr id="9" name="Card 2"/>
          <p:cNvSpPr/>
          <p:nvPr/>
        </p:nvSpPr>
        <p:spPr>
          <a:xfrm>
            <a:off x="4381348" y="1600200"/>
            <a:ext cx="3429000" cy="356616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2 circle"/>
          <p:cNvSpPr/>
          <p:nvPr/>
        </p:nvSpPr>
        <p:spPr>
          <a:xfrm>
            <a:off x="6575908" y="20116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451" y="2246224"/>
            <a:ext cx="399593" cy="399593"/>
          </a:xfrm>
          <a:prstGeom prst="rect">
            <a:avLst/>
          </a:prstGeom>
        </p:spPr>
      </p:pic>
      <p:sp>
        <p:nvSpPr>
          <p:cNvPr id="12" name="Card 2 title"/>
          <p:cNvSpPr txBox="1"/>
          <p:nvPr/>
        </p:nvSpPr>
        <p:spPr>
          <a:xfrm>
            <a:off x="4747108" y="3108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tx1"/>
                </a:solidFill>
              </a:rPr>
              <a:t>رسالتنا</a:t>
            </a:r>
            <a:endParaRPr lang="ar-SA" sz="2400" dirty="0"/>
          </a:p>
        </p:txBody>
      </p:sp>
      <p:sp>
        <p:nvSpPr>
          <p:cNvPr id="13" name="Card 2 body"/>
          <p:cNvSpPr txBox="1"/>
          <p:nvPr/>
        </p:nvSpPr>
        <p:spPr>
          <a:xfrm>
            <a:off x="4747108" y="374904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نصنع محتوى ذكي وجميل يوصل للناس الصح، ويحقق نتائج تقدر تقيسها.</a:t>
            </a:r>
            <a:endParaRPr lang="ar-SA" sz="1600" dirty="0"/>
          </a:p>
        </p:txBody>
      </p:sp>
      <p:sp>
        <p:nvSpPr>
          <p:cNvPr id="14" name="Card 3"/>
          <p:cNvSpPr/>
          <p:nvPr/>
        </p:nvSpPr>
        <p:spPr>
          <a:xfrm>
            <a:off x="548640" y="1600200"/>
            <a:ext cx="3429000" cy="356616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 3 circle"/>
          <p:cNvSpPr/>
          <p:nvPr/>
        </p:nvSpPr>
        <p:spPr>
          <a:xfrm>
            <a:off x="2743200" y="20116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Card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744" y="2246224"/>
            <a:ext cx="399593" cy="399593"/>
          </a:xfrm>
          <a:prstGeom prst="rect">
            <a:avLst/>
          </a:prstGeom>
        </p:spPr>
      </p:pic>
      <p:sp>
        <p:nvSpPr>
          <p:cNvPr id="17" name="Card 3 title"/>
          <p:cNvSpPr txBox="1"/>
          <p:nvPr/>
        </p:nvSpPr>
        <p:spPr>
          <a:xfrm>
            <a:off x="914400" y="31089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tx1"/>
                </a:solidFill>
              </a:rPr>
              <a:t>قيمنا</a:t>
            </a:r>
            <a:endParaRPr lang="ar-SA" sz="2400" dirty="0"/>
          </a:p>
        </p:txBody>
      </p:sp>
      <p:sp>
        <p:nvSpPr>
          <p:cNvPr id="18" name="Card 3 body"/>
          <p:cNvSpPr txBox="1"/>
          <p:nvPr/>
        </p:nvSpPr>
        <p:spPr>
          <a:xfrm>
            <a:off x="914400" y="374904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الإبداع، والوضوح، والالتزام، والنتائج قبل كل شي.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WHAT WE 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خدماتنا</a:t>
            </a:r>
            <a:endParaRPr lang="ar-SA" sz="3600" dirty="0"/>
          </a:p>
        </p:txBody>
      </p:sp>
      <p:sp>
        <p:nvSpPr>
          <p:cNvPr id="4" name="Service 1"/>
          <p:cNvSpPr/>
          <p:nvPr/>
        </p:nvSpPr>
        <p:spPr>
          <a:xfrm>
            <a:off x="8168335" y="1463040"/>
            <a:ext cx="347472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rgbClr val="DD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0A1033">
                <a:alpha val="10000"/>
              </a:srgbClr>
            </a:outerShdw>
          </a:effectLst>
        </p:spPr>
      </p:sp>
      <p:sp>
        <p:nvSpPr>
          <p:cNvPr id="5" name="Service 1 circle"/>
          <p:cNvSpPr/>
          <p:nvPr/>
        </p:nvSpPr>
        <p:spPr>
          <a:xfrm>
            <a:off x="10591495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ervic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006" y="1980590"/>
            <a:ext cx="336499" cy="336499"/>
          </a:xfrm>
          <a:prstGeom prst="rect">
            <a:avLst/>
          </a:prstGeom>
        </p:spPr>
      </p:pic>
      <p:sp>
        <p:nvSpPr>
          <p:cNvPr id="7" name="Service 1 title"/>
          <p:cNvSpPr txBox="1"/>
          <p:nvPr/>
        </p:nvSpPr>
        <p:spPr>
          <a:xfrm>
            <a:off x="8488375" y="181051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التسويق الرقمي</a:t>
            </a:r>
            <a:endParaRPr lang="ar-SA" sz="2000" dirty="0"/>
          </a:p>
        </p:txBody>
      </p:sp>
      <p:sp>
        <p:nvSpPr>
          <p:cNvPr id="8" name="Service 1 body"/>
          <p:cNvSpPr txBox="1"/>
          <p:nvPr/>
        </p:nvSpPr>
        <p:spPr>
          <a:xfrm>
            <a:off x="8488375" y="26974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نوصّل علامتك للجمهور الصح، في الوقت الصح.</a:t>
            </a:r>
            <a:endParaRPr lang="ar-SA" sz="1500" dirty="0"/>
          </a:p>
        </p:txBody>
      </p:sp>
      <p:sp>
        <p:nvSpPr>
          <p:cNvPr id="9" name="Service 2"/>
          <p:cNvSpPr/>
          <p:nvPr/>
        </p:nvSpPr>
        <p:spPr>
          <a:xfrm>
            <a:off x="4358488" y="1463040"/>
            <a:ext cx="347472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rgbClr val="DD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0A1033">
                <a:alpha val="10000"/>
              </a:srgbClr>
            </a:outerShdw>
          </a:effectLst>
        </p:spPr>
      </p:sp>
      <p:sp>
        <p:nvSpPr>
          <p:cNvPr id="10" name="Service 2 circle"/>
          <p:cNvSpPr/>
          <p:nvPr/>
        </p:nvSpPr>
        <p:spPr>
          <a:xfrm>
            <a:off x="6781648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ervic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158" y="1980590"/>
            <a:ext cx="336499" cy="336499"/>
          </a:xfrm>
          <a:prstGeom prst="rect">
            <a:avLst/>
          </a:prstGeom>
        </p:spPr>
      </p:pic>
      <p:sp>
        <p:nvSpPr>
          <p:cNvPr id="12" name="Service 2 title"/>
          <p:cNvSpPr txBox="1"/>
          <p:nvPr/>
        </p:nvSpPr>
        <p:spPr>
          <a:xfrm>
            <a:off x="4678528" y="181051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الإعلانات المدفوعة</a:t>
            </a:r>
            <a:endParaRPr lang="ar-SA" sz="2000" dirty="0"/>
          </a:p>
        </p:txBody>
      </p:sp>
      <p:sp>
        <p:nvSpPr>
          <p:cNvPr id="13" name="Service 2 body"/>
          <p:cNvSpPr txBox="1"/>
          <p:nvPr/>
        </p:nvSpPr>
        <p:spPr>
          <a:xfrm>
            <a:off x="4678528" y="26974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حملات مدروسة… وكل ريال يشتغل لصالحك.</a:t>
            </a:r>
            <a:endParaRPr lang="ar-SA" sz="1500" dirty="0"/>
          </a:p>
        </p:txBody>
      </p:sp>
      <p:sp>
        <p:nvSpPr>
          <p:cNvPr id="14" name="Service 3"/>
          <p:cNvSpPr/>
          <p:nvPr/>
        </p:nvSpPr>
        <p:spPr>
          <a:xfrm>
            <a:off x="548640" y="1463040"/>
            <a:ext cx="347472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rgbClr val="DD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0A1033">
                <a:alpha val="10000"/>
              </a:srgbClr>
            </a:outerShdw>
          </a:effectLst>
        </p:spPr>
      </p:sp>
      <p:sp>
        <p:nvSpPr>
          <p:cNvPr id="15" name="Service 3 circle"/>
          <p:cNvSpPr/>
          <p:nvPr/>
        </p:nvSpPr>
        <p:spPr>
          <a:xfrm>
            <a:off x="297180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Servic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310" y="1980590"/>
            <a:ext cx="336499" cy="336499"/>
          </a:xfrm>
          <a:prstGeom prst="rect">
            <a:avLst/>
          </a:prstGeom>
        </p:spPr>
      </p:pic>
      <p:sp>
        <p:nvSpPr>
          <p:cNvPr id="17" name="Service 3 title"/>
          <p:cNvSpPr txBox="1"/>
          <p:nvPr/>
        </p:nvSpPr>
        <p:spPr>
          <a:xfrm>
            <a:off x="868680" y="181051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صناعة المحتوى</a:t>
            </a:r>
            <a:endParaRPr lang="ar-SA" sz="2000" dirty="0"/>
          </a:p>
        </p:txBody>
      </p:sp>
      <p:sp>
        <p:nvSpPr>
          <p:cNvPr id="18" name="Service 3 body"/>
          <p:cNvSpPr txBox="1"/>
          <p:nvPr/>
        </p:nvSpPr>
        <p:spPr>
          <a:xfrm>
            <a:off x="868680" y="26974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كتابة وتصوير وقصص تنشاف وتنحفظ.</a:t>
            </a:r>
            <a:endParaRPr lang="ar-SA" sz="1500" dirty="0"/>
          </a:p>
        </p:txBody>
      </p:sp>
      <p:sp>
        <p:nvSpPr>
          <p:cNvPr id="19" name="Service 4"/>
          <p:cNvSpPr/>
          <p:nvPr/>
        </p:nvSpPr>
        <p:spPr>
          <a:xfrm>
            <a:off x="8168335" y="3840480"/>
            <a:ext cx="347472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rgbClr val="DD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0A1033">
                <a:alpha val="10000"/>
              </a:srgbClr>
            </a:outerShdw>
          </a:effectLst>
        </p:spPr>
      </p:sp>
      <p:sp>
        <p:nvSpPr>
          <p:cNvPr id="20" name="Service 4 circle"/>
          <p:cNvSpPr/>
          <p:nvPr/>
        </p:nvSpPr>
        <p:spPr>
          <a:xfrm>
            <a:off x="10591495" y="4160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Servic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006" y="4358030"/>
            <a:ext cx="336499" cy="336499"/>
          </a:xfrm>
          <a:prstGeom prst="rect">
            <a:avLst/>
          </a:prstGeom>
        </p:spPr>
      </p:pic>
      <p:sp>
        <p:nvSpPr>
          <p:cNvPr id="22" name="Service 4 title"/>
          <p:cNvSpPr txBox="1"/>
          <p:nvPr/>
        </p:nvSpPr>
        <p:spPr>
          <a:xfrm>
            <a:off x="8488375" y="418795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الهوية البصرية</a:t>
            </a:r>
            <a:endParaRPr lang="ar-SA" sz="2000" dirty="0"/>
          </a:p>
        </p:txBody>
      </p:sp>
      <p:sp>
        <p:nvSpPr>
          <p:cNvPr id="23" name="Service 4 body"/>
          <p:cNvSpPr txBox="1"/>
          <p:nvPr/>
        </p:nvSpPr>
        <p:spPr>
          <a:xfrm>
            <a:off x="8488375" y="5074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شعار وألوان وشكل يعرفك فيه الكل.</a:t>
            </a:r>
            <a:endParaRPr lang="ar-SA" sz="1500" dirty="0"/>
          </a:p>
        </p:txBody>
      </p:sp>
      <p:sp>
        <p:nvSpPr>
          <p:cNvPr id="24" name="Service 5"/>
          <p:cNvSpPr/>
          <p:nvPr/>
        </p:nvSpPr>
        <p:spPr>
          <a:xfrm>
            <a:off x="4358488" y="3840480"/>
            <a:ext cx="347472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rgbClr val="DD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0A1033">
                <a:alpha val="10000"/>
              </a:srgbClr>
            </a:outerShdw>
          </a:effectLst>
        </p:spPr>
      </p:sp>
      <p:sp>
        <p:nvSpPr>
          <p:cNvPr id="25" name="Service 5 circle"/>
          <p:cNvSpPr/>
          <p:nvPr/>
        </p:nvSpPr>
        <p:spPr>
          <a:xfrm>
            <a:off x="6781648" y="4160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Servic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158" y="4358030"/>
            <a:ext cx="336499" cy="336499"/>
          </a:xfrm>
          <a:prstGeom prst="rect">
            <a:avLst/>
          </a:prstGeom>
        </p:spPr>
      </p:pic>
      <p:sp>
        <p:nvSpPr>
          <p:cNvPr id="27" name="Service 5 title"/>
          <p:cNvSpPr txBox="1"/>
          <p:nvPr/>
        </p:nvSpPr>
        <p:spPr>
          <a:xfrm>
            <a:off x="4678528" y="418795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إدارة الحسابات</a:t>
            </a:r>
            <a:endParaRPr lang="ar-SA" sz="2000" dirty="0"/>
          </a:p>
        </p:txBody>
      </p:sp>
      <p:sp>
        <p:nvSpPr>
          <p:cNvPr id="28" name="Service 5 body"/>
          <p:cNvSpPr txBox="1"/>
          <p:nvPr/>
        </p:nvSpPr>
        <p:spPr>
          <a:xfrm>
            <a:off x="4678528" y="5074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حضور ثابت ومتابعة يومية على كل المنصات.</a:t>
            </a:r>
            <a:endParaRPr lang="ar-SA" sz="1500" dirty="0"/>
          </a:p>
        </p:txBody>
      </p:sp>
      <p:sp>
        <p:nvSpPr>
          <p:cNvPr id="29" name="Service 6"/>
          <p:cNvSpPr/>
          <p:nvPr/>
        </p:nvSpPr>
        <p:spPr>
          <a:xfrm>
            <a:off x="548640" y="3840480"/>
            <a:ext cx="347472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rgbClr val="DDE0EA"/>
            </a:solidFill>
            <a:prstDash val="solid"/>
          </a:ln>
          <a:effectLst>
            <a:outerShdw sx="100000" sy="100000" kx="0" ky="0" algn="bl" rotWithShape="0" blurRad="127000" dist="38100" dir="5400000">
              <a:srgbClr val="0A1033">
                <a:alpha val="10000"/>
              </a:srgbClr>
            </a:outerShdw>
          </a:effectLst>
        </p:spPr>
      </p:sp>
      <p:sp>
        <p:nvSpPr>
          <p:cNvPr id="30" name="Service 6 circle"/>
          <p:cNvSpPr/>
          <p:nvPr/>
        </p:nvSpPr>
        <p:spPr>
          <a:xfrm>
            <a:off x="2971800" y="4160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Servic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9310" y="4358030"/>
            <a:ext cx="336499" cy="336499"/>
          </a:xfrm>
          <a:prstGeom prst="rect">
            <a:avLst/>
          </a:prstGeom>
        </p:spPr>
      </p:pic>
      <p:sp>
        <p:nvSpPr>
          <p:cNvPr id="32" name="Service 6 title"/>
          <p:cNvSpPr txBox="1"/>
          <p:nvPr/>
        </p:nvSpPr>
        <p:spPr>
          <a:xfrm>
            <a:off x="868680" y="418795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الفيديو والموشن</a:t>
            </a:r>
            <a:endParaRPr lang="ar-SA" sz="2000" dirty="0"/>
          </a:p>
        </p:txBody>
      </p:sp>
      <p:sp>
        <p:nvSpPr>
          <p:cNvPr id="33" name="Service 6 body"/>
          <p:cNvSpPr txBox="1"/>
          <p:nvPr/>
        </p:nvSpPr>
        <p:spPr>
          <a:xfrm>
            <a:off x="868680" y="5074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إعلانات متحركة وفيديوهات قصيرة لكل منصة.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HOW WE WORK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كيف نشتغل</a:t>
            </a:r>
            <a:endParaRPr lang="ar-SA" sz="3600" dirty="0"/>
          </a:p>
        </p:txBody>
      </p:sp>
      <p:sp>
        <p:nvSpPr>
          <p:cNvPr id="4" name="Process line"/>
          <p:cNvSpPr/>
          <p:nvPr/>
        </p:nvSpPr>
        <p:spPr>
          <a:xfrm>
            <a:off x="1805940" y="2331720"/>
            <a:ext cx="8579815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</a:ln>
        </p:spPr>
      </p:sp>
      <p:sp>
        <p:nvSpPr>
          <p:cNvPr id="5" name="Step 1 circle"/>
          <p:cNvSpPr/>
          <p:nvPr/>
        </p:nvSpPr>
        <p:spPr>
          <a:xfrm>
            <a:off x="9882835" y="1828800"/>
            <a:ext cx="1005840" cy="100584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6" name="Step 1 number"/>
          <p:cNvSpPr txBox="1"/>
          <p:nvPr/>
        </p:nvSpPr>
        <p:spPr>
          <a:xfrm>
            <a:off x="9882835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01</a:t>
            </a:r>
            <a:endParaRPr lang="en-US" sz="2600" dirty="0"/>
          </a:p>
        </p:txBody>
      </p:sp>
      <p:sp>
        <p:nvSpPr>
          <p:cNvPr id="7" name="Step 1 title"/>
          <p:cNvSpPr txBox="1"/>
          <p:nvPr/>
        </p:nvSpPr>
        <p:spPr>
          <a:xfrm>
            <a:off x="9128455" y="31546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100" b="1" dirty="0">
                <a:solidFill>
                  <a:schemeClr val="tx1"/>
                </a:solidFill>
              </a:rPr>
              <a:t>نفهم جمهورك</a:t>
            </a:r>
            <a:endParaRPr lang="ar-SA" sz="2100" dirty="0"/>
          </a:p>
        </p:txBody>
      </p:sp>
      <p:sp>
        <p:nvSpPr>
          <p:cNvPr id="8" name="Step 1 body"/>
          <p:cNvSpPr txBox="1"/>
          <p:nvPr/>
        </p:nvSpPr>
        <p:spPr>
          <a:xfrm>
            <a:off x="9128455" y="3749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بحث وتحليل للسوق والمنافسين، ورؤى واضحة عن جمهورك.</a:t>
            </a:r>
            <a:endParaRPr lang="ar-SA" sz="1500" dirty="0"/>
          </a:p>
        </p:txBody>
      </p:sp>
      <p:sp>
        <p:nvSpPr>
          <p:cNvPr id="9" name="Step 2 circle"/>
          <p:cNvSpPr/>
          <p:nvPr/>
        </p:nvSpPr>
        <p:spPr>
          <a:xfrm>
            <a:off x="7022897" y="1828800"/>
            <a:ext cx="1005840" cy="100584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0" name="Step 2 number"/>
          <p:cNvSpPr txBox="1"/>
          <p:nvPr/>
        </p:nvSpPr>
        <p:spPr>
          <a:xfrm>
            <a:off x="7022897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02</a:t>
            </a:r>
            <a:endParaRPr lang="en-US" sz="2600" dirty="0"/>
          </a:p>
        </p:txBody>
      </p:sp>
      <p:sp>
        <p:nvSpPr>
          <p:cNvPr id="11" name="Step 2 title"/>
          <p:cNvSpPr txBox="1"/>
          <p:nvPr/>
        </p:nvSpPr>
        <p:spPr>
          <a:xfrm>
            <a:off x="6268517" y="31546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100" b="1" dirty="0">
                <a:solidFill>
                  <a:schemeClr val="tx1"/>
                </a:solidFill>
              </a:rPr>
              <a:t>نبني الاستراتيجية</a:t>
            </a:r>
            <a:endParaRPr lang="ar-SA" sz="2100" dirty="0"/>
          </a:p>
        </p:txBody>
      </p:sp>
      <p:sp>
        <p:nvSpPr>
          <p:cNvPr id="12" name="Step 2 body"/>
          <p:cNvSpPr txBox="1"/>
          <p:nvPr/>
        </p:nvSpPr>
        <p:spPr>
          <a:xfrm>
            <a:off x="6268517" y="3749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أهداف ورسائل وقنوات… خطة تعرف وش تبي توصل له.</a:t>
            </a:r>
            <a:endParaRPr lang="ar-SA" sz="1500" dirty="0"/>
          </a:p>
        </p:txBody>
      </p:sp>
      <p:sp>
        <p:nvSpPr>
          <p:cNvPr id="13" name="Step 3 circle"/>
          <p:cNvSpPr/>
          <p:nvPr/>
        </p:nvSpPr>
        <p:spPr>
          <a:xfrm>
            <a:off x="4162958" y="1828800"/>
            <a:ext cx="1005840" cy="100584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4162958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03</a:t>
            </a:r>
            <a:endParaRPr lang="en-US" sz="2600" dirty="0"/>
          </a:p>
        </p:txBody>
      </p:sp>
      <p:sp>
        <p:nvSpPr>
          <p:cNvPr id="15" name="Step 3 title"/>
          <p:cNvSpPr txBox="1"/>
          <p:nvPr/>
        </p:nvSpPr>
        <p:spPr>
          <a:xfrm>
            <a:off x="3408578" y="31546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100" b="1" dirty="0">
                <a:solidFill>
                  <a:schemeClr val="tx1"/>
                </a:solidFill>
              </a:rPr>
              <a:t>نصنع المحتوى</a:t>
            </a:r>
            <a:endParaRPr lang="ar-SA" sz="2100" dirty="0"/>
          </a:p>
        </p:txBody>
      </p:sp>
      <p:sp>
        <p:nvSpPr>
          <p:cNvPr id="16" name="Step 3 body"/>
          <p:cNvSpPr txBox="1"/>
          <p:nvPr/>
        </p:nvSpPr>
        <p:spPr>
          <a:xfrm>
            <a:off x="3408578" y="3749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كتابة وتصميم وفيديو بهوية وحدة على كل منصة.</a:t>
            </a:r>
            <a:endParaRPr lang="ar-SA" sz="1500" dirty="0"/>
          </a:p>
        </p:txBody>
      </p:sp>
      <p:sp>
        <p:nvSpPr>
          <p:cNvPr id="17" name="Step 4 circle"/>
          <p:cNvSpPr/>
          <p:nvPr/>
        </p:nvSpPr>
        <p:spPr>
          <a:xfrm>
            <a:off x="1303020" y="1828800"/>
            <a:ext cx="1005840" cy="100584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8" name="Step 4 number"/>
          <p:cNvSpPr txBox="1"/>
          <p:nvPr/>
        </p:nvSpPr>
        <p:spPr>
          <a:xfrm>
            <a:off x="1303020" y="1828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04</a:t>
            </a:r>
            <a:endParaRPr lang="en-US" sz="2600" dirty="0"/>
          </a:p>
        </p:txBody>
      </p:sp>
      <p:sp>
        <p:nvSpPr>
          <p:cNvPr id="19" name="Step 4 title"/>
          <p:cNvSpPr txBox="1"/>
          <p:nvPr/>
        </p:nvSpPr>
        <p:spPr>
          <a:xfrm>
            <a:off x="548640" y="31546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100" b="1" dirty="0">
                <a:solidFill>
                  <a:schemeClr val="tx1"/>
                </a:solidFill>
              </a:rPr>
              <a:t>نطلق ونقيس</a:t>
            </a:r>
            <a:endParaRPr lang="ar-SA" sz="2100" dirty="0"/>
          </a:p>
        </p:txBody>
      </p:sp>
      <p:sp>
        <p:nvSpPr>
          <p:cNvPr id="20" name="Step 4 body"/>
          <p:cNvSpPr txBox="1"/>
          <p:nvPr/>
        </p:nvSpPr>
        <p:spPr>
          <a:xfrm>
            <a:off x="548640" y="37490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نشغّل الحملات، نتابع النتائج، ونطوّر باستمرار.</a:t>
            </a:r>
            <a:endParaRPr lang="ar-SA" sz="1500" dirty="0"/>
          </a:p>
        </p:txBody>
      </p:sp>
      <p:sp>
        <p:nvSpPr>
          <p:cNvPr id="21" name="Process tagline"/>
          <p:cNvSpPr txBox="1"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accent1"/>
                </a:solidFill>
              </a:rPr>
              <a:t>شريكك من الفكرة إلى الإطلاق.</a:t>
            </a:r>
            <a:endParaRPr lang="ar-SA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WHY NEO CAPTA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ليش Neo Capta؟</a:t>
            </a:r>
            <a:endParaRPr lang="ar-SA" sz="3600" dirty="0"/>
          </a:p>
        </p:txBody>
      </p:sp>
      <p:pic>
        <p:nvPicPr>
          <p:cNvPr id="4" name="Scroll still" descr="/home/user/ksaa/neo-capta-profile/assets/still-scro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120640" cy="288036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A1033">
                <a:alpha val="25000"/>
              </a:srgbClr>
            </a:outerShdw>
          </a:effectLst>
        </p:spPr>
      </p:pic>
      <p:sp>
        <p:nvSpPr>
          <p:cNvPr id="5" name="Still caption"/>
          <p:cNvSpPr txBox="1"/>
          <p:nvPr/>
        </p:nvSpPr>
        <p:spPr>
          <a:xfrm>
            <a:off x="548640" y="4480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accent6"/>
                </a:solidFill>
              </a:rPr>
              <a:t>من فيديو «وقّف التمرير»</a:t>
            </a:r>
            <a:endParaRPr lang="ar-SA" sz="1100" dirty="0"/>
          </a:p>
        </p:txBody>
      </p:sp>
      <p:sp>
        <p:nvSpPr>
          <p:cNvPr id="6" name="Why 1 circle"/>
          <p:cNvSpPr/>
          <p:nvPr/>
        </p:nvSpPr>
        <p:spPr>
          <a:xfrm>
            <a:off x="10865815" y="15087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Why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5670" y="1718615"/>
            <a:ext cx="357530" cy="357530"/>
          </a:xfrm>
          <a:prstGeom prst="rect">
            <a:avLst/>
          </a:prstGeom>
        </p:spPr>
      </p:pic>
      <p:sp>
        <p:nvSpPr>
          <p:cNvPr id="8" name="Why 1 title"/>
          <p:cNvSpPr txBox="1"/>
          <p:nvPr/>
        </p:nvSpPr>
        <p:spPr>
          <a:xfrm>
            <a:off x="6172200" y="1490472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محتوى يوقّف التمرير</a:t>
            </a:r>
            <a:endParaRPr lang="ar-SA" sz="2000" dirty="0"/>
          </a:p>
        </p:txBody>
      </p:sp>
      <p:sp>
        <p:nvSpPr>
          <p:cNvPr id="9" name="Why 1 body"/>
          <p:cNvSpPr txBox="1"/>
          <p:nvPr/>
        </p:nvSpPr>
        <p:spPr>
          <a:xfrm>
            <a:off x="6172200" y="1965960"/>
            <a:ext cx="4416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نصمم لأول ثانيتين… لأنها اللي تقرر إذا الناس بتكمل.</a:t>
            </a:r>
            <a:endParaRPr lang="ar-SA" sz="1500" dirty="0"/>
          </a:p>
        </p:txBody>
      </p:sp>
      <p:sp>
        <p:nvSpPr>
          <p:cNvPr id="10" name="Why 2 circle"/>
          <p:cNvSpPr/>
          <p:nvPr/>
        </p:nvSpPr>
        <p:spPr>
          <a:xfrm>
            <a:off x="10865815" y="28803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Why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670" y="3090215"/>
            <a:ext cx="357530" cy="357530"/>
          </a:xfrm>
          <a:prstGeom prst="rect">
            <a:avLst/>
          </a:prstGeom>
        </p:spPr>
      </p:pic>
      <p:sp>
        <p:nvSpPr>
          <p:cNvPr id="12" name="Why 2 title"/>
          <p:cNvSpPr txBox="1"/>
          <p:nvPr/>
        </p:nvSpPr>
        <p:spPr>
          <a:xfrm>
            <a:off x="6172200" y="2862072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فريق واحد لكل شي</a:t>
            </a:r>
            <a:endParaRPr lang="ar-SA" sz="2000" dirty="0"/>
          </a:p>
        </p:txBody>
      </p:sp>
      <p:sp>
        <p:nvSpPr>
          <p:cNvPr id="13" name="Why 2 body"/>
          <p:cNvSpPr txBox="1"/>
          <p:nvPr/>
        </p:nvSpPr>
        <p:spPr>
          <a:xfrm>
            <a:off x="6172200" y="3337560"/>
            <a:ext cx="4416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من الفكرة والكتابة لين التصميم والنشر والتحليل، تحت سقف واحد.</a:t>
            </a:r>
            <a:endParaRPr lang="ar-SA" sz="1500" dirty="0"/>
          </a:p>
        </p:txBody>
      </p:sp>
      <p:sp>
        <p:nvSpPr>
          <p:cNvPr id="14" name="Why 3 circle"/>
          <p:cNvSpPr/>
          <p:nvPr/>
        </p:nvSpPr>
        <p:spPr>
          <a:xfrm>
            <a:off x="10865815" y="42519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Why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5670" y="4461815"/>
            <a:ext cx="357530" cy="357530"/>
          </a:xfrm>
          <a:prstGeom prst="rect">
            <a:avLst/>
          </a:prstGeom>
        </p:spPr>
      </p:pic>
      <p:sp>
        <p:nvSpPr>
          <p:cNvPr id="16" name="Why 3 title"/>
          <p:cNvSpPr txBox="1"/>
          <p:nvPr/>
        </p:nvSpPr>
        <p:spPr>
          <a:xfrm>
            <a:off x="6172200" y="4233672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نتائج تقدر تقيسها</a:t>
            </a:r>
            <a:endParaRPr lang="ar-SA" sz="2000" dirty="0"/>
          </a:p>
        </p:txBody>
      </p:sp>
      <p:sp>
        <p:nvSpPr>
          <p:cNvPr id="17" name="Why 3 body"/>
          <p:cNvSpPr txBox="1"/>
          <p:nvPr/>
        </p:nvSpPr>
        <p:spPr>
          <a:xfrm>
            <a:off x="6172200" y="4709160"/>
            <a:ext cx="4416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نحدد الأهداف من البداية، ونرجع لك بتقارير واضحة.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OUR WORK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نماذج من أعمالنا</a:t>
            </a:r>
            <a:endParaRPr lang="ar-SA" sz="3600" dirty="0"/>
          </a:p>
        </p:txBody>
      </p:sp>
      <p:pic>
        <p:nvPicPr>
          <p:cNvPr id="4" name="Work «وش نقول؟» — قصة" descr="/home/user/ksaa/neo-capta-profile/assets/still-sto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1371600"/>
            <a:ext cx="3515258" cy="1977333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A1033">
                <a:alpha val="25000"/>
              </a:srgbClr>
            </a:outerShdw>
          </a:effectLst>
        </p:spPr>
      </p:pic>
      <p:sp>
        <p:nvSpPr>
          <p:cNvPr id="5" name="Caption «وش نقول؟» — قصة"/>
          <p:cNvSpPr txBox="1"/>
          <p:nvPr/>
        </p:nvSpPr>
        <p:spPr>
          <a:xfrm>
            <a:off x="8127797" y="3422085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accent6"/>
                </a:solidFill>
              </a:rPr>
              <a:t>«وش نقول؟» — قصة</a:t>
            </a:r>
            <a:endParaRPr lang="ar-SA" sz="1100" dirty="0"/>
          </a:p>
        </p:txBody>
      </p:sp>
      <p:pic>
        <p:nvPicPr>
          <p:cNvPr id="6" name="Work «حرّك علامتك» — مانيفستو" descr="/home/user/ksaa/neo-capta-profile/assets/still-manifes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218" y="1371600"/>
            <a:ext cx="3515258" cy="1977333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A1033">
                <a:alpha val="25000"/>
              </a:srgbClr>
            </a:outerShdw>
          </a:effectLst>
        </p:spPr>
      </p:pic>
      <p:sp>
        <p:nvSpPr>
          <p:cNvPr id="7" name="Caption «حرّك علامتك» — مانيفستو"/>
          <p:cNvSpPr txBox="1"/>
          <p:nvPr/>
        </p:nvSpPr>
        <p:spPr>
          <a:xfrm>
            <a:off x="4338218" y="3422085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accent6"/>
                </a:solidFill>
              </a:rPr>
              <a:t>«حرّك علامتك» — مانيفستو</a:t>
            </a:r>
            <a:endParaRPr lang="ar-SA" sz="1100" dirty="0"/>
          </a:p>
        </p:txBody>
      </p:sp>
      <p:pic>
        <p:nvPicPr>
          <p:cNvPr id="8" name="Work «رحلة علامتك» — مراحل العمل" descr="/home/user/ksaa/neo-capta-profile/assets/still-journe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515258" cy="1977333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A1033">
                <a:alpha val="25000"/>
              </a:srgbClr>
            </a:outerShdw>
          </a:effectLst>
        </p:spPr>
      </p:pic>
      <p:sp>
        <p:nvSpPr>
          <p:cNvPr id="9" name="Caption «رحلة علامتك» — مراحل العمل"/>
          <p:cNvSpPr txBox="1"/>
          <p:nvPr/>
        </p:nvSpPr>
        <p:spPr>
          <a:xfrm>
            <a:off x="548640" y="3422085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accent6"/>
                </a:solidFill>
              </a:rPr>
              <a:t>«رحلة علامتك» — مراحل العمل</a:t>
            </a:r>
            <a:endParaRPr lang="ar-SA" sz="1100" dirty="0"/>
          </a:p>
        </p:txBody>
      </p:sp>
      <p:pic>
        <p:nvPicPr>
          <p:cNvPr id="10" name="Work «البريف» — طولي" descr="/home/user/ksaa/neo-capta-profile/assets/still-brief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6470" y="3851853"/>
            <a:ext cx="996585" cy="1771707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A1033">
                <a:alpha val="25000"/>
              </a:srgbClr>
            </a:outerShdw>
          </a:effectLst>
        </p:spPr>
      </p:pic>
      <p:sp>
        <p:nvSpPr>
          <p:cNvPr id="11" name="Caption «البريف» — طولي"/>
          <p:cNvSpPr txBox="1"/>
          <p:nvPr/>
        </p:nvSpPr>
        <p:spPr>
          <a:xfrm>
            <a:off x="10180015" y="5696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accent6"/>
                </a:solidFill>
              </a:rPr>
              <a:t>«البريف» — طولي</a:t>
            </a:r>
            <a:endParaRPr lang="ar-SA" sz="1100" dirty="0"/>
          </a:p>
        </p:txBody>
      </p:sp>
      <p:pic>
        <p:nvPicPr>
          <p:cNvPr id="12" name="Work «شبكة المحتوى» — مربّع" descr="/home/user/ksaa/neo-capta-profile/assets/still-grid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9858" y="3851853"/>
            <a:ext cx="1771707" cy="1771707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A1033">
                <a:alpha val="25000"/>
              </a:srgbClr>
            </a:outerShdw>
          </a:effectLst>
        </p:spPr>
      </p:pic>
      <p:sp>
        <p:nvSpPr>
          <p:cNvPr id="13" name="Caption «شبكة المحتوى» — مربّع"/>
          <p:cNvSpPr txBox="1"/>
          <p:nvPr/>
        </p:nvSpPr>
        <p:spPr>
          <a:xfrm>
            <a:off x="7739858" y="5696712"/>
            <a:ext cx="17717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accent6"/>
                </a:solidFill>
              </a:rPr>
              <a:t>«شبكة المحتوى» — مربّع</a:t>
            </a:r>
            <a:endParaRPr lang="ar-SA" sz="1100" dirty="0"/>
          </a:p>
        </p:txBody>
      </p:sp>
      <p:pic>
        <p:nvPicPr>
          <p:cNvPr id="14" name="Work «العد التنازلي» — مربّع" descr="/home/user/ksaa/neo-capta-profile/assets/still-countdown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3246" y="3851853"/>
            <a:ext cx="1771707" cy="1771707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A1033">
                <a:alpha val="25000"/>
              </a:srgbClr>
            </a:outerShdw>
          </a:effectLst>
        </p:spPr>
      </p:pic>
      <p:sp>
        <p:nvSpPr>
          <p:cNvPr id="15" name="Caption «العد التنازلي» — مربّع"/>
          <p:cNvSpPr txBox="1"/>
          <p:nvPr/>
        </p:nvSpPr>
        <p:spPr>
          <a:xfrm>
            <a:off x="4833246" y="5696712"/>
            <a:ext cx="17717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accent6"/>
                </a:solidFill>
              </a:rPr>
              <a:t>«العد التنازلي» — مربّع</a:t>
            </a:r>
            <a:endParaRPr lang="ar-SA" sz="1100" dirty="0"/>
          </a:p>
        </p:txBody>
      </p:sp>
      <p:pic>
        <p:nvPicPr>
          <p:cNvPr id="16" name="Work «يُحكى عنه» — ستايل فاتح" descr="/home/user/ksaa/neo-capta-profile/assets/still-editorial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851853"/>
            <a:ext cx="3149702" cy="1771707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A1033">
                <a:alpha val="25000"/>
              </a:srgbClr>
            </a:outerShdw>
          </a:effectLst>
        </p:spPr>
      </p:pic>
      <p:sp>
        <p:nvSpPr>
          <p:cNvPr id="17" name="Caption «يُحكى عنه» — ستايل فاتح"/>
          <p:cNvSpPr txBox="1"/>
          <p:nvPr/>
        </p:nvSpPr>
        <p:spPr>
          <a:xfrm>
            <a:off x="548640" y="5696712"/>
            <a:ext cx="31497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chemeClr val="accent6"/>
                </a:solidFill>
              </a:rPr>
              <a:t>«يُحكى عنه» — ستايل فاتح</a:t>
            </a:r>
            <a:endParaRPr lang="ar-SA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EVERY SCREEN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مقاس لكل منصة</a:t>
            </a:r>
            <a:endParaRPr lang="ar-SA" sz="3600" dirty="0"/>
          </a:p>
        </p:txBody>
      </p:sp>
      <p:pic>
        <p:nvPicPr>
          <p:cNvPr id="4" name="Format 16:9" descr="/home/user/ksaa/neo-capta-profile/assets/still-rus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6015" y="1417320"/>
            <a:ext cx="5527040" cy="310896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A1033">
                <a:alpha val="25000"/>
              </a:srgbClr>
            </a:outerShdw>
          </a:effectLst>
        </p:spPr>
      </p:pic>
      <p:sp>
        <p:nvSpPr>
          <p:cNvPr id="5" name="Format 16:9 title"/>
          <p:cNvSpPr txBox="1"/>
          <p:nvPr/>
        </p:nvSpPr>
        <p:spPr>
          <a:xfrm>
            <a:off x="6116015" y="4663440"/>
            <a:ext cx="552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2000" b="1" dirty="0">
                <a:solidFill>
                  <a:schemeClr val="accent1"/>
                </a:solidFill>
              </a:rPr>
              <a:t>16:9  </a:t>
            </a:r>
            <a:pPr algn="ct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عريض</a:t>
            </a:r>
            <a:endParaRPr lang="ar-SA" sz="2000" dirty="0"/>
          </a:p>
        </p:txBody>
      </p:sp>
      <p:sp>
        <p:nvSpPr>
          <p:cNvPr id="6" name="Format 16:9 body"/>
          <p:cNvSpPr txBox="1"/>
          <p:nvPr/>
        </p:nvSpPr>
        <p:spPr>
          <a:xfrm>
            <a:off x="6116015" y="5120640"/>
            <a:ext cx="552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يوتيوب، والمواقع، وشاشات العرض</a:t>
            </a:r>
            <a:endParaRPr lang="ar-SA" sz="1500" dirty="0"/>
          </a:p>
        </p:txBody>
      </p:sp>
      <p:pic>
        <p:nvPicPr>
          <p:cNvPr id="7" name="Format 9:16" descr="/home/user/ksaa/neo-capta-profile/assets/still-before-aft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413" y="1417320"/>
            <a:ext cx="1748790" cy="310896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A1033">
                <a:alpha val="25000"/>
              </a:srgbClr>
            </a:outerShdw>
          </a:effectLst>
        </p:spPr>
      </p:pic>
      <p:sp>
        <p:nvSpPr>
          <p:cNvPr id="8" name="Format 9:16 title"/>
          <p:cNvSpPr txBox="1"/>
          <p:nvPr/>
        </p:nvSpPr>
        <p:spPr>
          <a:xfrm>
            <a:off x="3698088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2000" b="1" dirty="0">
                <a:solidFill>
                  <a:schemeClr val="accent1"/>
                </a:solidFill>
              </a:rPr>
              <a:t>9:16  </a:t>
            </a:r>
            <a:pPr algn="ct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طولي</a:t>
            </a:r>
            <a:endParaRPr lang="ar-SA" sz="2000" dirty="0"/>
          </a:p>
        </p:txBody>
      </p:sp>
      <p:sp>
        <p:nvSpPr>
          <p:cNvPr id="9" name="Format 9:16 body"/>
          <p:cNvSpPr txBox="1"/>
          <p:nvPr/>
        </p:nvSpPr>
        <p:spPr>
          <a:xfrm>
            <a:off x="3698088" y="5120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ريلز، وتيك توك، والستوري</a:t>
            </a:r>
            <a:endParaRPr lang="ar-SA" sz="1500" dirty="0"/>
          </a:p>
        </p:txBody>
      </p:sp>
      <p:pic>
        <p:nvPicPr>
          <p:cNvPr id="10" name="Format 1:1" descr="/home/user/ksaa/neo-capta-profile/assets/still-carouse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3108960" cy="310896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A1033">
                <a:alpha val="25000"/>
              </a:srgbClr>
            </a:outerShdw>
          </a:effectLst>
        </p:spPr>
      </p:pic>
      <p:sp>
        <p:nvSpPr>
          <p:cNvPr id="11" name="Format 1:1 title"/>
          <p:cNvSpPr txBox="1"/>
          <p:nvPr/>
        </p:nvSpPr>
        <p:spPr>
          <a:xfrm>
            <a:off x="54864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2000" b="1" dirty="0">
                <a:solidFill>
                  <a:schemeClr val="accent1"/>
                </a:solidFill>
              </a:rPr>
              <a:t>1:1  </a:t>
            </a:r>
            <a:pPr algn="ct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مربّع</a:t>
            </a:r>
            <a:endParaRPr lang="ar-SA" sz="2000" dirty="0"/>
          </a:p>
        </p:txBody>
      </p:sp>
      <p:sp>
        <p:nvSpPr>
          <p:cNvPr id="12" name="Format 1:1 body"/>
          <p:cNvSpPr txBox="1"/>
          <p:nvPr/>
        </p:nvSpPr>
        <p:spPr>
          <a:xfrm>
            <a:off x="548640" y="5120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بوستات انستقرام ولينكدإن</a:t>
            </a:r>
            <a:endParaRPr lang="ar-SA" sz="1500" dirty="0"/>
          </a:p>
        </p:txBody>
      </p:sp>
      <p:sp>
        <p:nvSpPr>
          <p:cNvPr id="13" name="Formats note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وكل محتوى نسلّمه بالعربي والإنقليزي.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unner mark" descr="/home/user/ksaa/neo-capta-profile/assets/runne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325880"/>
            <a:ext cx="1005840" cy="860501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097280" y="2240280"/>
            <a:ext cx="999713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نصنع المحتوى اللي</a:t>
            </a:r>
            <a:endParaRPr lang="ar-SA" sz="4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ar-SA" altLang="en-US" sz="4800" b="1" dirty="0">
                <a:solidFill>
                  <a:schemeClr val="accent2"/>
                </a:solidFill>
              </a:rPr>
              <a:t>يوقّف التمرير.</a:t>
            </a:r>
            <a:endParaRPr lang="ar-SA" sz="4800" dirty="0"/>
          </a:p>
        </p:txBody>
      </p:sp>
      <p:sp>
        <p:nvSpPr>
          <p:cNvPr id="4" name="Quote English"/>
          <p:cNvSpPr txBox="1"/>
          <p:nvPr/>
        </p:nvSpPr>
        <p:spPr>
          <a:xfrm>
            <a:off x="1097280" y="44348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chemeClr val="accent3"/>
                </a:solidFill>
              </a:rPr>
              <a:t>WE MAKE THE CONTENT THAT STOPS THE SCROLL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/home/user/ksaa/neo-capta-profile/assets/logo-dar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4206240" cy="304834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35040" y="1417320"/>
            <a:ext cx="5605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خلّنا نبدأ قصتك</a:t>
            </a:r>
            <a:endParaRPr lang="ar-SA" sz="4000" dirty="0"/>
          </a:p>
        </p:txBody>
      </p:sp>
      <p:sp>
        <p:nvSpPr>
          <p:cNvPr id="4" name="Tagline"/>
          <p:cNvSpPr txBox="1"/>
          <p:nvPr/>
        </p:nvSpPr>
        <p:spPr>
          <a:xfrm>
            <a:off x="6035040" y="2468880"/>
            <a:ext cx="5605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accent2"/>
                </a:solidFill>
              </a:rPr>
              <a:t>فكرتك. تأثيرنا.</a:t>
            </a:r>
            <a:endParaRPr lang="ar-SA" sz="2200" dirty="0"/>
          </a:p>
        </p:txBody>
      </p:sp>
      <p:sp>
        <p:nvSpPr>
          <p:cNvPr id="5" name="Contact 1 circle"/>
          <p:cNvSpPr/>
          <p:nvPr/>
        </p:nvSpPr>
        <p:spPr>
          <a:xfrm>
            <a:off x="11185855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ontac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9299" y="3461004"/>
            <a:ext cx="210312" cy="210312"/>
          </a:xfrm>
          <a:prstGeom prst="rect">
            <a:avLst/>
          </a:prstGeom>
        </p:spPr>
      </p:pic>
      <p:sp>
        <p:nvSpPr>
          <p:cNvPr id="7" name="Contact 1 text"/>
          <p:cNvSpPr txBox="1"/>
          <p:nvPr/>
        </p:nvSpPr>
        <p:spPr>
          <a:xfrm>
            <a:off x="6035040" y="3337560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3"/>
                </a:solidFill>
              </a:rPr>
              <a:t>البريد: [أضف البريد الإلكتروني]</a:t>
            </a:r>
            <a:endParaRPr lang="ar-SA" sz="1600" dirty="0"/>
          </a:p>
        </p:txBody>
      </p:sp>
      <p:sp>
        <p:nvSpPr>
          <p:cNvPr id="8" name="Contact 2 circle"/>
          <p:cNvSpPr/>
          <p:nvPr/>
        </p:nvSpPr>
        <p:spPr>
          <a:xfrm>
            <a:off x="11185855" y="39593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Contac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299" y="4082796"/>
            <a:ext cx="210312" cy="210312"/>
          </a:xfrm>
          <a:prstGeom prst="rect">
            <a:avLst/>
          </a:prstGeom>
        </p:spPr>
      </p:pic>
      <p:sp>
        <p:nvSpPr>
          <p:cNvPr id="10" name="Contact 2 text"/>
          <p:cNvSpPr txBox="1"/>
          <p:nvPr/>
        </p:nvSpPr>
        <p:spPr>
          <a:xfrm>
            <a:off x="6035040" y="3959352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3"/>
                </a:solidFill>
              </a:rPr>
              <a:t>الجوال: [أضف رقم التواصل]</a:t>
            </a:r>
            <a:endParaRPr lang="ar-SA" sz="1600" dirty="0"/>
          </a:p>
        </p:txBody>
      </p:sp>
      <p:sp>
        <p:nvSpPr>
          <p:cNvPr id="11" name="Contact 3 circle"/>
          <p:cNvSpPr/>
          <p:nvPr/>
        </p:nvSpPr>
        <p:spPr>
          <a:xfrm>
            <a:off x="11185855" y="45811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Contact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9299" y="4704588"/>
            <a:ext cx="210312" cy="210312"/>
          </a:xfrm>
          <a:prstGeom prst="rect">
            <a:avLst/>
          </a:prstGeom>
        </p:spPr>
      </p:pic>
      <p:sp>
        <p:nvSpPr>
          <p:cNvPr id="13" name="Contact 3 text"/>
          <p:cNvSpPr txBox="1"/>
          <p:nvPr/>
        </p:nvSpPr>
        <p:spPr>
          <a:xfrm>
            <a:off x="6035040" y="4581144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3"/>
                </a:solidFill>
              </a:rPr>
              <a:t>الموقع: [أضف رابط الموقع]</a:t>
            </a:r>
            <a:endParaRPr lang="ar-SA" sz="1600" dirty="0"/>
          </a:p>
        </p:txBody>
      </p:sp>
      <p:sp>
        <p:nvSpPr>
          <p:cNvPr id="14" name="Contact 4 circle"/>
          <p:cNvSpPr/>
          <p:nvPr/>
        </p:nvSpPr>
        <p:spPr>
          <a:xfrm>
            <a:off x="11185855" y="52029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Contact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9299" y="5326380"/>
            <a:ext cx="210312" cy="210312"/>
          </a:xfrm>
          <a:prstGeom prst="rect">
            <a:avLst/>
          </a:prstGeom>
        </p:spPr>
      </p:pic>
      <p:sp>
        <p:nvSpPr>
          <p:cNvPr id="16" name="Contact 4 text"/>
          <p:cNvSpPr txBox="1"/>
          <p:nvPr/>
        </p:nvSpPr>
        <p:spPr>
          <a:xfrm>
            <a:off x="6035040" y="5202936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3"/>
                </a:solidFill>
              </a:rPr>
              <a:t>سوشال: [أضف الحسابات]</a:t>
            </a:r>
            <a:endParaRPr lang="ar-SA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o Capta">
  <a:themeElements>
    <a:clrScheme name="Neo Capta">
      <a:dk1>
        <a:srgbClr val="0A1033"/>
      </a:dk1>
      <a:lt1>
        <a:srgbClr val="FFFFFF"/>
      </a:lt1>
      <a:dk2>
        <a:srgbClr val="17246B"/>
      </a:dk2>
      <a:lt2>
        <a:srgbClr val="F3F4F8"/>
      </a:lt2>
      <a:accent1>
        <a:srgbClr val="3B4CC0"/>
      </a:accent1>
      <a:accent2>
        <a:srgbClr val="7486F2"/>
      </a:accent2>
      <a:accent3>
        <a:srgbClr val="E8E9EE"/>
      </a:accent3>
      <a:accent4>
        <a:srgbClr val="05081A"/>
      </a:accent4>
      <a:accent5>
        <a:srgbClr val="FF5A7A"/>
      </a:accent5>
      <a:accent6>
        <a:srgbClr val="8C93B8"/>
      </a:accent6>
      <a:hlink>
        <a:srgbClr val="3B4CC0"/>
      </a:hlink>
      <a:folHlink>
        <a:srgbClr val="7486F2"/>
      </a:folHlink>
    </a:clrScheme>
    <a:fontScheme name="Neo Capt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Neo Capta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 Capta — الملف التعريفي</dc:title>
  <dc:subject>PptxGenJS Presentation</dc:subject>
  <dc:creator>Neo Capta</dc:creator>
  <cp:lastModifiedBy>Neo Capta</cp:lastModifiedBy>
  <cp:revision>1</cp:revision>
  <dcterms:created xsi:type="dcterms:W3CDTF">2026-10-21T03:24:18Z</dcterms:created>
  <dcterms:modified xsi:type="dcterms:W3CDTF">2026-10-21T03:24:18Z</dcterms:modified>
</cp:coreProperties>
</file>